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9"/>
  </p:notesMasterIdLst>
  <p:handoutMasterIdLst>
    <p:handoutMasterId r:id="rId20"/>
  </p:handoutMasterIdLst>
  <p:sldIdLst>
    <p:sldId id="256" r:id="rId2"/>
    <p:sldId id="289" r:id="rId3"/>
    <p:sldId id="290" r:id="rId4"/>
    <p:sldId id="389" r:id="rId5"/>
    <p:sldId id="296" r:id="rId6"/>
    <p:sldId id="390" r:id="rId7"/>
    <p:sldId id="375" r:id="rId8"/>
    <p:sldId id="391" r:id="rId9"/>
    <p:sldId id="376" r:id="rId10"/>
    <p:sldId id="392" r:id="rId11"/>
    <p:sldId id="377" r:id="rId12"/>
    <p:sldId id="393" r:id="rId13"/>
    <p:sldId id="388" r:id="rId14"/>
    <p:sldId id="394" r:id="rId15"/>
    <p:sldId id="380" r:id="rId16"/>
    <p:sldId id="381" r:id="rId17"/>
    <p:sldId id="288" r:id="rId18"/>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62" d="100"/>
          <a:sy n="62" d="100"/>
        </p:scale>
        <p:origin x="38" y="499"/>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3D448-D394-063F-E8BA-2DF7EDECCD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03E34A-1EE6-E282-37BE-09747C55BB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1FAA56-66E8-69EA-CDF4-E5EFB34B83C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804EFCF-29D4-424F-5F45-76C1AD5BBA06}"/>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559070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574884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2352A-955D-F65A-00AA-43A1FD1DF2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E56839-EB32-FD47-E0CD-92735748F63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C7C5D7-C045-41B6-6959-6B6B75F6758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2AD983-81BD-6B28-7095-460115EF788D}"/>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935381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Students</a:t>
            </a:r>
            <a:r>
              <a:rPr lang="es-ES" spc="165" dirty="0">
                <a:latin typeface="Arial"/>
                <a:cs typeface="Arial"/>
              </a:rPr>
              <a:t>: Lidia Tórtola Juan y Raúl Salido Calatayud</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2"/>
            <a:ext cx="5738198" cy="4601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11" name="Imagen 10">
            <a:extLst>
              <a:ext uri="{FF2B5EF4-FFF2-40B4-BE49-F238E27FC236}">
                <a16:creationId xmlns:a16="http://schemas.microsoft.com/office/drawing/2014/main" id="{B9500CAA-1C11-9360-4C6B-3570E41353B0}"/>
              </a:ext>
            </a:extLst>
          </p:cNvPr>
          <p:cNvPicPr>
            <a:picLocks noChangeAspect="1"/>
          </p:cNvPicPr>
          <p:nvPr/>
        </p:nvPicPr>
        <p:blipFill>
          <a:blip r:embed="rId4"/>
          <a:stretch>
            <a:fillRect/>
          </a:stretch>
        </p:blipFill>
        <p:spPr>
          <a:xfrm>
            <a:off x="685799" y="1527405"/>
            <a:ext cx="5620707" cy="4339995"/>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DB66C-CBA1-1EC6-5A76-AEAF167E429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09E6B24-C3A8-3EBB-81E3-4D5351884E6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80C59B7-E94C-B8CF-28A6-42618C3E53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F247124-5FEE-2F59-32AF-3A90EE743DE3}"/>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B609055C-92A7-CF4F-61C0-75C107F9E0D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78AEDD6D-3CE0-FC30-53C6-D3B0B1183DD6}"/>
                  </a:ext>
                </a:extLst>
              </p:cNvPr>
              <p:cNvSpPr txBox="1"/>
              <p:nvPr/>
            </p:nvSpPr>
            <p:spPr>
              <a:xfrm>
                <a:off x="583019" y="1371600"/>
                <a:ext cx="11199971" cy="2127827"/>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Document and comment your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primer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MZI est</a:t>
                </a:r>
                <a:r>
                  <a:rPr lang="es-ES" sz="1200" dirty="0">
                    <a:latin typeface="Arial" panose="020B0604020202020204" pitchFamily="34" charset="0"/>
                    <a:cs typeface="Arial" panose="020B0604020202020204" pitchFamily="34" charset="0"/>
                  </a:rPr>
                  <a:t>á perfectamente balanceado ya que los dos brazos tienen la misma longitud, es decir, </a:t>
                </a:r>
                <a14:m>
                  <m:oMath xmlns:m="http://schemas.openxmlformats.org/officeDocument/2006/math">
                    <m:r>
                      <a:rPr lang="es-ES" sz="1200" i="1"/>
                      <m:t>𝑑𝐿</m:t>
                    </m:r>
                    <m:r>
                      <a:rPr lang="es-ES" sz="1200"/>
                      <m:t>=</m:t>
                    </m:r>
                    <m:r>
                      <a:rPr lang="es-ES" sz="1200"/>
                      <m:t>0</m:t>
                    </m:r>
                  </m:oMath>
                </a14:m>
                <a:r>
                  <a:rPr lang="es-ES" sz="1200" dirty="0">
                    <a:latin typeface="Arial" panose="020B0604020202020204" pitchFamily="34" charset="0"/>
                    <a:cs typeface="Arial" panose="020B0604020202020204" pitchFamily="34" charset="0"/>
                  </a:rPr>
                  <a:t>. Es por ello que la diferencia de fase entre los dos caminos no cambia con la longitud de onda. Al usar acopladores 50/50, toda la potencia interfiere de forma constructiva en una salida y destructiva en la otra.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Por tanto, en la gráfica se ve una salida prácticamente constante con transmisión </a:t>
                </a:r>
                <a14:m>
                  <m:oMath xmlns:m="http://schemas.openxmlformats.org/officeDocument/2006/math">
                    <m:r>
                      <a:rPr lang="es-ES" sz="1200"/>
                      <m:t>∣</m:t>
                    </m:r>
                    <m:r>
                      <a:rPr lang="es-ES" sz="1200" i="1"/>
                      <m:t>𝐻</m:t>
                    </m:r>
                    <m:sSup>
                      <m:sSupPr>
                        <m:ctrlPr>
                          <a:rPr lang="ar-AE" sz="1200" i="1"/>
                        </m:ctrlPr>
                      </m:sSupPr>
                      <m:e>
                        <m:r>
                          <a:rPr lang="ar-AE" sz="1200"/>
                          <m:t>∣</m:t>
                        </m:r>
                      </m:e>
                      <m:sup>
                        <m:r>
                          <a:rPr lang="ar-AE" sz="1200"/>
                          <m:t>2</m:t>
                        </m:r>
                      </m:sup>
                    </m:sSup>
                    <m:r>
                      <a:rPr lang="ar-AE" sz="1200"/>
                      <m:t>=</m:t>
                    </m:r>
                    <m:r>
                      <a:rPr lang="ar-AE" sz="1200"/>
                      <m:t>1</m:t>
                    </m:r>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mientras que la otra queda casi anulada. En escala logarítmica, la salida apagada aparece alrededor de valores muy bajos porque no es exactamente cero por límites numéricos de la simulación. Como no hay diferencia de longitud entre brazos, tampoco aparecen oscilaciones ni FSR en el rango de 1500 a 1600 nm. </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78AEDD6D-3CE0-FC30-53C6-D3B0B1183DD6}"/>
                  </a:ext>
                </a:extLst>
              </p:cNvPr>
              <p:cNvSpPr txBox="1">
                <a:spLocks noRot="1" noChangeAspect="1" noMove="1" noResize="1" noEditPoints="1" noAdjustHandles="1" noChangeArrowheads="1" noChangeShapeType="1" noTextEdit="1"/>
              </p:cNvSpPr>
              <p:nvPr/>
            </p:nvSpPr>
            <p:spPr>
              <a:xfrm>
                <a:off x="583019" y="1371600"/>
                <a:ext cx="11199971" cy="2127827"/>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129620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9281160" y="1418373"/>
            <a:ext cx="2588771" cy="2010627"/>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9311640" y="1556991"/>
            <a:ext cx="2368570" cy="1872009"/>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2"/>
            <a:ext cx="5598081" cy="41442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
        <p:nvSpPr>
          <p:cNvPr id="8" name="Rectángulo 7">
            <a:extLst>
              <a:ext uri="{FF2B5EF4-FFF2-40B4-BE49-F238E27FC236}">
                <a16:creationId xmlns:a16="http://schemas.microsoft.com/office/drawing/2014/main" id="{9650C78C-6456-2EA0-A8E0-E278396E7EEB}"/>
              </a:ext>
            </a:extLst>
          </p:cNvPr>
          <p:cNvSpPr/>
          <p:nvPr/>
        </p:nvSpPr>
        <p:spPr>
          <a:xfrm>
            <a:off x="6308926" y="1418372"/>
            <a:ext cx="2901310" cy="239503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8228940C-920D-6655-F6C4-BC0968E2E8E6}"/>
              </a:ext>
            </a:extLst>
          </p:cNvPr>
          <p:cNvPicPr>
            <a:picLocks noChangeAspect="1"/>
          </p:cNvPicPr>
          <p:nvPr/>
        </p:nvPicPr>
        <p:blipFill>
          <a:blip r:embed="rId4"/>
          <a:stretch>
            <a:fillRect/>
          </a:stretch>
        </p:blipFill>
        <p:spPr>
          <a:xfrm>
            <a:off x="6463581" y="1487681"/>
            <a:ext cx="2627858" cy="2176809"/>
          </a:xfrm>
          <a:prstGeom prst="rect">
            <a:avLst/>
          </a:prstGeom>
        </p:spPr>
      </p:pic>
      <p:pic>
        <p:nvPicPr>
          <p:cNvPr id="12" name="Imagen 11">
            <a:extLst>
              <a:ext uri="{FF2B5EF4-FFF2-40B4-BE49-F238E27FC236}">
                <a16:creationId xmlns:a16="http://schemas.microsoft.com/office/drawing/2014/main" id="{28DFF09F-FBEC-7D7E-2D42-9AD961C0660A}"/>
              </a:ext>
            </a:extLst>
          </p:cNvPr>
          <p:cNvPicPr>
            <a:picLocks noChangeAspect="1"/>
          </p:cNvPicPr>
          <p:nvPr/>
        </p:nvPicPr>
        <p:blipFill>
          <a:blip r:embed="rId5"/>
          <a:srcRect t="1845"/>
          <a:stretch>
            <a:fillRect/>
          </a:stretch>
        </p:blipFill>
        <p:spPr>
          <a:xfrm>
            <a:off x="653630" y="1487681"/>
            <a:ext cx="5442370" cy="3951947"/>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4FCB1-337D-7EF0-63FF-1A1B1843B99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D8C730F-9FEF-3A05-F8CD-88EF9F4F8527}"/>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D66C5FB1-8CBD-64BB-5170-BBB552018A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A448128-8A18-6191-2387-205D10D37BB2}"/>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5C5140B1-032C-38C5-C500-1AC874C1413D}"/>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D5FB5851-7805-8118-694D-012D4466B617}"/>
                  </a:ext>
                </a:extLst>
              </p:cNvPr>
              <p:cNvSpPr txBox="1"/>
              <p:nvPr/>
            </p:nvSpPr>
            <p:spPr>
              <a:xfrm>
                <a:off x="583019" y="1524000"/>
                <a:ext cx="11199971" cy="3231654"/>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este apartado, el MZI está desbalanceado porque hay una diferencia de longitud entre los dos brazos, </a:t>
                </a:r>
                <a14:m>
                  <m:oMath xmlns:m="http://schemas.openxmlformats.org/officeDocument/2006/math">
                    <m:r>
                      <a:rPr lang="es-ES" sz="1200" i="1"/>
                      <m:t>𝑑𝐿</m:t>
                    </m:r>
                    <m:r>
                      <a:rPr lang="es-ES" sz="1200"/>
                      <m:t>=</m:t>
                    </m:r>
                    <m:r>
                      <a:rPr lang="es-ES" sz="1200"/>
                      <m:t>100</m:t>
                    </m:r>
                    <m:r>
                      <m:rPr>
                        <m:nor/>
                      </m:rPr>
                      <a:rPr lang="es-ES" sz="1200" i="1">
                        <a:latin typeface="Arial" panose="020B0604020202020204" pitchFamily="34" charset="0"/>
                        <a:cs typeface="Arial" panose="020B0604020202020204" pitchFamily="34" charset="0"/>
                      </a:rPr>
                      <m:t> </m:t>
                    </m:r>
                    <m:r>
                      <a:rPr lang="es-ES" sz="1200" i="1"/>
                      <m:t>𝜇</m:t>
                    </m:r>
                    <m:r>
                      <a:rPr lang="es-ES" sz="1200" i="1"/>
                      <m:t>𝑚</m:t>
                    </m:r>
                  </m:oMath>
                </a14:m>
                <a:r>
                  <a:rPr lang="es-ES" sz="1200" dirty="0">
                    <a:latin typeface="Arial" panose="020B0604020202020204" pitchFamily="34" charset="0"/>
                    <a:cs typeface="Arial" panose="020B0604020202020204" pitchFamily="34" charset="0"/>
                  </a:rPr>
                  <a:t>. Esa diferencia hace que la fase relativa entre los caminos cambie con la longitud de onda, así que la interferencia no es siempre igual.</a:t>
                </a:r>
              </a:p>
              <a:p>
                <a:pPr algn="just"/>
                <a:r>
                  <a:rPr lang="es-ES" sz="1200" dirty="0">
                    <a:latin typeface="Arial" panose="020B0604020202020204" pitchFamily="34" charset="0"/>
                    <a:cs typeface="Arial" panose="020B0604020202020204" pitchFamily="34" charset="0"/>
                  </a:rPr>
                  <a:t>Por eso aparecen oscilaciones en la transmisión: cuando las señales llegan en fase, una salida tiene un máximo y cuando llegan en contrafase, aparece un mínimo. Además, las dos salidas son complementarias, es decir, cuando una sube la otra baja. Por otro lado en escala dB se ven picos muy profundos porque en algunos puntos la interferencia destructiva casi cancela por completo la señal.</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b="1" i="1"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FSR es la separación en longitud de onda entre dos máximos o mínimos consecutivos de la función de transferencia. En la gráfica, las oscilaciones aparecen separadas entre ellas aproximadamente 12.013 nm, que coincide con el valor calculado mediante la fórmula FSR=</a:t>
                </a:r>
                <a:r>
                  <a:rPr lang="el-GR" sz="1200" dirty="0">
                    <a:latin typeface="Arial" panose="020B0604020202020204" pitchFamily="34" charset="0"/>
                    <a:cs typeface="Arial" panose="020B0604020202020204" pitchFamily="34" charset="0"/>
                  </a:rPr>
                  <a:t>λ</a:t>
                </a:r>
                <a:r>
                  <a:rPr lang="es-ES" sz="1200" dirty="0">
                    <a:latin typeface="Arial" panose="020B0604020202020204" pitchFamily="34" charset="0"/>
                    <a:cs typeface="Arial" panose="020B0604020202020204" pitchFamily="34" charset="0"/>
                  </a:rPr>
                  <a:t>o^2/ng​⋅</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usando los datos que aparecen en la imagen de la diapositiva anterior.</a:t>
                </a:r>
              </a:p>
              <a:p>
                <a:pPr algn="just"/>
                <a:r>
                  <a:rPr lang="es-ES" sz="1200" dirty="0">
                    <a:latin typeface="Arial" panose="020B0604020202020204" pitchFamily="34" charset="0"/>
                    <a:cs typeface="Arial" panose="020B0604020202020204" pitchFamily="34" charset="0"/>
                  </a:rPr>
                  <a:t>Esto confirma que las oscilaciones de la gráfica corresponden a la diferencia de longitud escogida entre los brazos del MZI. Además, si </a:t>
                </a:r>
                <a14:m>
                  <m:oMath xmlns:m="http://schemas.openxmlformats.org/officeDocument/2006/math">
                    <m:r>
                      <a:rPr lang="es-ES" sz="1200" i="1"/>
                      <m:t>𝑑𝐿</m:t>
                    </m:r>
                  </m:oMath>
                </a14:m>
                <a:r>
                  <a:rPr lang="es-ES" sz="1200" dirty="0">
                    <a:latin typeface="Arial" panose="020B0604020202020204" pitchFamily="34" charset="0"/>
                    <a:cs typeface="Arial" panose="020B0604020202020204" pitchFamily="34" charset="0"/>
                  </a:rPr>
                  <a:t>aumenta, el FSR disminuye, porque la fase cambia más rápido con la longitud de onda.</a:t>
                </a: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D5FB5851-7805-8118-694D-012D4466B617}"/>
                  </a:ext>
                </a:extLst>
              </p:cNvPr>
              <p:cNvSpPr txBox="1">
                <a:spLocks noRot="1" noChangeAspect="1" noMove="1" noResize="1" noEditPoints="1" noAdjustHandles="1" noChangeArrowheads="1" noChangeShapeType="1" noTextEdit="1"/>
              </p:cNvSpPr>
              <p:nvPr/>
            </p:nvSpPr>
            <p:spPr>
              <a:xfrm>
                <a:off x="583019" y="1524000"/>
                <a:ext cx="11199971" cy="3231654"/>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1880218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297052" cy="2696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dirty="0"/>
              <a:t>MZI transfer </a:t>
            </a:r>
            <a:r>
              <a:rPr lang="es-ES" sz="2000" dirty="0" err="1"/>
              <a:t>functions</a:t>
            </a:r>
            <a:endParaRPr lang="en-US" sz="2000" dirty="0"/>
          </a:p>
          <a:p>
            <a:pPr algn="ctr"/>
            <a:endParaRPr lang="en-US" sz="2000" dirty="0"/>
          </a:p>
          <a:p>
            <a:pPr algn="ctr"/>
            <a:r>
              <a:rPr lang="en-US" sz="2000" dirty="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9828370" y="1418373"/>
            <a:ext cx="1982190" cy="2315427"/>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3115150" y="1418372"/>
            <a:ext cx="6486050" cy="440601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2 nm at 1550 nm</a:t>
            </a:r>
            <a:br>
              <a:rPr lang="en-US" b="0" kern="0" spc="-5" dirty="0">
                <a:latin typeface="+mj-lt"/>
                <a:cs typeface="Lucida Sans"/>
              </a:rPr>
            </a:br>
            <a:endParaRPr lang="en-US" b="0" kern="0" dirty="0">
              <a:latin typeface="+mj-lt"/>
              <a:cs typeface="Lucida Sans"/>
            </a:endParaRPr>
          </a:p>
        </p:txBody>
      </p:sp>
      <p:pic>
        <p:nvPicPr>
          <p:cNvPr id="4" name="Imagen 3">
            <a:extLst>
              <a:ext uri="{FF2B5EF4-FFF2-40B4-BE49-F238E27FC236}">
                <a16:creationId xmlns:a16="http://schemas.microsoft.com/office/drawing/2014/main" id="{F123B752-59B6-0B3A-B7EF-2F4BD3A00B0B}"/>
              </a:ext>
            </a:extLst>
          </p:cNvPr>
          <p:cNvPicPr>
            <a:picLocks noChangeAspect="1"/>
          </p:cNvPicPr>
          <p:nvPr/>
        </p:nvPicPr>
        <p:blipFill>
          <a:blip r:embed="rId3"/>
          <a:stretch>
            <a:fillRect/>
          </a:stretch>
        </p:blipFill>
        <p:spPr>
          <a:xfrm>
            <a:off x="3165732" y="1490179"/>
            <a:ext cx="6283068" cy="4202283"/>
          </a:xfrm>
          <a:prstGeom prst="rect">
            <a:avLst/>
          </a:prstGeom>
        </p:spPr>
      </p:pic>
      <p:sp>
        <p:nvSpPr>
          <p:cNvPr id="9" name="CuadroTexto 8">
            <a:extLst>
              <a:ext uri="{FF2B5EF4-FFF2-40B4-BE49-F238E27FC236}">
                <a16:creationId xmlns:a16="http://schemas.microsoft.com/office/drawing/2014/main" id="{14CD6A40-C64D-BA97-332E-98CDBE2BEC09}"/>
              </a:ext>
            </a:extLst>
          </p:cNvPr>
          <p:cNvSpPr txBox="1"/>
          <p:nvPr/>
        </p:nvSpPr>
        <p:spPr>
          <a:xfrm>
            <a:off x="685800" y="1600200"/>
            <a:ext cx="2354580" cy="2308324"/>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Datos : </a:t>
            </a:r>
          </a:p>
          <a:p>
            <a:r>
              <a:rPr lang="es-ES" dirty="0">
                <a:latin typeface="Arial" panose="020B0604020202020204" pitchFamily="34" charset="0"/>
                <a:cs typeface="Arial" panose="020B0604020202020204" pitchFamily="34" charset="0"/>
              </a:rPr>
              <a:t>FSR = 2 nm</a:t>
            </a:r>
          </a:p>
          <a:p>
            <a:r>
              <a:rPr lang="es-ES" dirty="0">
                <a:latin typeface="Arial" panose="020B0604020202020204" pitchFamily="34" charset="0"/>
                <a:cs typeface="Arial" panose="020B0604020202020204" pitchFamily="34" charset="0"/>
              </a:rPr>
              <a:t>ng = 2</a:t>
            </a:r>
          </a:p>
          <a:p>
            <a:r>
              <a:rPr lang="el-GR" dirty="0">
                <a:latin typeface="Arial" panose="020B0604020202020204" pitchFamily="34" charset="0"/>
                <a:cs typeface="Arial" panose="020B0604020202020204" pitchFamily="34" charset="0"/>
              </a:rPr>
              <a:t>λ</a:t>
            </a:r>
            <a:r>
              <a:rPr lang="es-ES" dirty="0">
                <a:latin typeface="Arial" panose="020B0604020202020204" pitchFamily="34" charset="0"/>
                <a:cs typeface="Arial" panose="020B0604020202020204" pitchFamily="34" charset="0"/>
              </a:rPr>
              <a:t>o =1.55 </a:t>
            </a:r>
            <a:r>
              <a:rPr lang="es-ES" dirty="0" err="1">
                <a:latin typeface="Arial" panose="020B0604020202020204" pitchFamily="34" charset="0"/>
                <a:cs typeface="Arial" panose="020B0604020202020204" pitchFamily="34" charset="0"/>
              </a:rPr>
              <a:t>um</a:t>
            </a:r>
            <a:endParaRPr lang="es-ES" dirty="0"/>
          </a:p>
          <a:p>
            <a:endParaRPr lang="es-ES" sz="1800" dirty="0">
              <a:latin typeface="Arial" panose="020B0604020202020204" pitchFamily="34" charset="0"/>
              <a:cs typeface="Arial" panose="020B0604020202020204" pitchFamily="34" charset="0"/>
            </a:endParaRPr>
          </a:p>
          <a:p>
            <a:r>
              <a:rPr lang="es-ES" sz="1800" dirty="0">
                <a:latin typeface="Arial" panose="020B0604020202020204" pitchFamily="34" charset="0"/>
                <a:cs typeface="Arial" panose="020B0604020202020204" pitchFamily="34" charset="0"/>
              </a:rPr>
              <a:t>FSR = </a:t>
            </a:r>
            <a:r>
              <a:rPr lang="el-GR" sz="1800" dirty="0">
                <a:latin typeface="Arial" panose="020B0604020202020204" pitchFamily="34" charset="0"/>
                <a:cs typeface="Arial" panose="020B0604020202020204" pitchFamily="34" charset="0"/>
              </a:rPr>
              <a:t>λ</a:t>
            </a:r>
            <a:r>
              <a:rPr lang="es-ES" sz="1800" dirty="0">
                <a:latin typeface="Arial" panose="020B0604020202020204" pitchFamily="34" charset="0"/>
                <a:cs typeface="Arial" panose="020B0604020202020204" pitchFamily="34" charset="0"/>
              </a:rPr>
              <a:t>o^2/ng​⋅</a:t>
            </a:r>
            <a:r>
              <a:rPr lang="es-ES" sz="1800" dirty="0" err="1">
                <a:latin typeface="Arial" panose="020B0604020202020204" pitchFamily="34" charset="0"/>
                <a:cs typeface="Arial" panose="020B0604020202020204" pitchFamily="34" charset="0"/>
              </a:rPr>
              <a:t>dL</a:t>
            </a:r>
            <a:endParaRPr lang="es-ES" dirty="0">
              <a:latin typeface="Arial" panose="020B0604020202020204" pitchFamily="34" charset="0"/>
              <a:cs typeface="Arial" panose="020B0604020202020204" pitchFamily="34" charset="0"/>
            </a:endParaRPr>
          </a:p>
          <a:p>
            <a:r>
              <a:rPr lang="es-ES" dirty="0" err="1">
                <a:latin typeface="Arial" panose="020B0604020202020204" pitchFamily="34" charset="0"/>
                <a:cs typeface="Arial" panose="020B0604020202020204" pitchFamily="34" charset="0"/>
              </a:rPr>
              <a:t>dL</a:t>
            </a:r>
            <a:r>
              <a:rPr lang="es-ES" dirty="0">
                <a:latin typeface="Arial" panose="020B0604020202020204" pitchFamily="34" charset="0"/>
                <a:cs typeface="Arial" panose="020B0604020202020204" pitchFamily="34" charset="0"/>
              </a:rPr>
              <a:t> =</a:t>
            </a:r>
            <a:r>
              <a:rPr lang="el-GR" dirty="0">
                <a:latin typeface="Arial" panose="020B0604020202020204" pitchFamily="34" charset="0"/>
                <a:cs typeface="Arial" panose="020B0604020202020204" pitchFamily="34" charset="0"/>
              </a:rPr>
              <a:t> λ</a:t>
            </a:r>
            <a:r>
              <a:rPr lang="es-ES" dirty="0">
                <a:latin typeface="Arial" panose="020B0604020202020204" pitchFamily="34" charset="0"/>
                <a:cs typeface="Arial" panose="020B0604020202020204" pitchFamily="34" charset="0"/>
              </a:rPr>
              <a:t>o^2/</a:t>
            </a:r>
            <a:r>
              <a:rPr lang="es-ES" dirty="0" err="1">
                <a:latin typeface="Arial" panose="020B0604020202020204" pitchFamily="34" charset="0"/>
                <a:cs typeface="Arial" panose="020B0604020202020204" pitchFamily="34" charset="0"/>
              </a:rPr>
              <a:t>ng⋅FSR</a:t>
            </a:r>
            <a:r>
              <a:rPr lang="es-ES" dirty="0">
                <a:latin typeface="Arial" panose="020B0604020202020204" pitchFamily="34" charset="0"/>
                <a:cs typeface="Arial" panose="020B0604020202020204" pitchFamily="34" charset="0"/>
              </a:rPr>
              <a:t> =</a:t>
            </a:r>
          </a:p>
          <a:p>
            <a:r>
              <a:rPr lang="es-ES" dirty="0">
                <a:latin typeface="Arial" panose="020B0604020202020204" pitchFamily="34" charset="0"/>
                <a:cs typeface="Arial" panose="020B0604020202020204" pitchFamily="34" charset="0"/>
              </a:rPr>
              <a:t>     = </a:t>
            </a:r>
            <a:r>
              <a:rPr lang="es-ES" dirty="0"/>
              <a:t>600.625 </a:t>
            </a:r>
            <a:r>
              <a:rPr lang="es-ES" dirty="0" err="1"/>
              <a:t>um</a:t>
            </a:r>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265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EEFC-A3ED-02F8-F79D-1B221FC702FF}"/>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6BB3BAB0-12AD-26CF-B9E0-EF9EDAF25D08}"/>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B6B2B63C-DE2F-E674-0C53-C0485C27F883}"/>
              </a:ext>
            </a:extLst>
          </p:cNvPr>
          <p:cNvSpPr>
            <a:spLocks noGrp="1"/>
          </p:cNvSpPr>
          <p:nvPr>
            <p:ph type="sldNum" sz="quarter" idx="7"/>
          </p:nvPr>
        </p:nvSpPr>
        <p:spPr/>
        <p:txBody>
          <a:bodyPr/>
          <a:lstStyle/>
          <a:p>
            <a:fld id="{C2F52289-4012-4053-9770-FE82CEB9514F}" type="slidenum">
              <a:rPr lang="en-US" smtClean="0"/>
              <a:pPr/>
              <a:t>8</a:t>
            </a:fld>
            <a:endParaRPr lang="en-US" dirty="0"/>
          </a:p>
        </p:txBody>
      </p:sp>
      <p:sp>
        <p:nvSpPr>
          <p:cNvPr id="8" name="CuadroTexto 7">
            <a:extLst>
              <a:ext uri="{FF2B5EF4-FFF2-40B4-BE49-F238E27FC236}">
                <a16:creationId xmlns:a16="http://schemas.microsoft.com/office/drawing/2014/main" id="{F72DB91C-CD88-419A-A72F-B930F5C50808}"/>
              </a:ext>
            </a:extLst>
          </p:cNvPr>
          <p:cNvSpPr txBox="1"/>
          <p:nvPr/>
        </p:nvSpPr>
        <p:spPr>
          <a:xfrm>
            <a:off x="496235" y="1676400"/>
            <a:ext cx="11199530" cy="2308324"/>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este ejercicio se ha diseñado el MZI para obtener un FSR de 2 nm alrededor de 1550 nm. Para ello, se ha calculado con la fórmula de la diapositiva anterior, una diferencia de longitud entre brazos de aproximadamente 600.625 µm.</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aumentar esta diferencia de longitud, la señal que viaja por un brazo acumula más fase que la del otro. Por eso, pequeños cambios en la longitud de onda ya producen cambios importantes en la interferencia. Como consecuencia, las oscilaciones aparecen más juntas que en el caso anterior.</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simulación confirma el diseño, ya que la separación entre máximos o mínimos consecutivos es de unos 2 nm. Además, las dos salidas siguen siendo complementarias porque la potencia se reparte entre ellas: cuando una salida está en interferencia constructiva, la otra está en interferencia destructiva.</a:t>
            </a:r>
          </a:p>
          <a:p>
            <a:pPr algn="just"/>
            <a:endParaRPr lang="en-US" sz="1200" dirty="0">
              <a:latin typeface="Arial" panose="020B0604020202020204" pitchFamily="34" charset="0"/>
              <a:cs typeface="Arial" panose="020B0604020202020204" pitchFamily="34" charset="0"/>
            </a:endParaRPr>
          </a:p>
        </p:txBody>
      </p:sp>
      <p:pic>
        <p:nvPicPr>
          <p:cNvPr id="10" name="Gráfico 9">
            <a:extLst>
              <a:ext uri="{FF2B5EF4-FFF2-40B4-BE49-F238E27FC236}">
                <a16:creationId xmlns:a16="http://schemas.microsoft.com/office/drawing/2014/main" id="{8E9C3D1E-1BA6-D96E-3BA2-579FA55D8C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0ED95477-F923-D5C0-E148-A8D2348ACBCC}"/>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2 nm at 1550 nm</a:t>
            </a:r>
            <a:br>
              <a:rPr lang="en-US" b="0" kern="0" spc="-5" dirty="0">
                <a:latin typeface="+mj-lt"/>
                <a:cs typeface="Lucida Sans"/>
              </a:rPr>
            </a:br>
            <a:endParaRPr lang="en-US" b="0" kern="0" dirty="0">
              <a:latin typeface="+mj-lt"/>
              <a:cs typeface="Lucida Sans"/>
            </a:endParaRPr>
          </a:p>
        </p:txBody>
      </p:sp>
    </p:spTree>
    <p:extLst>
      <p:ext uri="{BB962C8B-B14F-4D97-AF65-F5344CB8AC3E}">
        <p14:creationId xmlns:p14="http://schemas.microsoft.com/office/powerpoint/2010/main" val="1591807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9</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260931" y="1418373"/>
            <a:ext cx="4600326"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9835849" y="1418373"/>
            <a:ext cx="1998445" cy="2789733"/>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100" b="1" dirty="0">
                <a:solidFill>
                  <a:schemeClr val="tx1"/>
                </a:solidFill>
                <a:latin typeface="Arial" panose="020B0604020202020204" pitchFamily="34" charset="0"/>
                <a:cs typeface="Arial" panose="020B0604020202020204" pitchFamily="34" charset="0"/>
              </a:rPr>
              <a:t>Hints:</a:t>
            </a:r>
          </a:p>
          <a:p>
            <a:pPr algn="just"/>
            <a:r>
              <a:rPr lang="en-US" sz="1100" dirty="0" err="1">
                <a:solidFill>
                  <a:schemeClr val="tx1"/>
                </a:solidFill>
                <a:latin typeface="Arial" panose="020B0604020202020204" pitchFamily="34" charset="0"/>
                <a:cs typeface="Arial" panose="020B0604020202020204" pitchFamily="34" charset="0"/>
                <a:sym typeface="Wingdings" pitchFamily="2" charset="2"/>
              </a:rPr>
              <a:t>wvl</a:t>
            </a:r>
            <a:r>
              <a:rPr lang="en-US" sz="11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1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100" dirty="0" err="1">
                <a:solidFill>
                  <a:schemeClr val="tx1"/>
                </a:solidFill>
                <a:latin typeface="Arial" panose="020B0604020202020204" pitchFamily="34" charset="0"/>
                <a:cs typeface="Arial" panose="020B0604020202020204" pitchFamily="34" charset="0"/>
                <a:sym typeface="Wingdings" pitchFamily="2" charset="2"/>
              </a:rPr>
              <a:t>n_eff</a:t>
            </a:r>
            <a:r>
              <a:rPr lang="en-US" sz="11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100" dirty="0" err="1">
                <a:solidFill>
                  <a:schemeClr val="tx1"/>
                </a:solidFill>
                <a:latin typeface="Arial" panose="020B0604020202020204" pitchFamily="34" charset="0"/>
                <a:cs typeface="Arial" panose="020B0604020202020204" pitchFamily="34" charset="0"/>
                <a:sym typeface="Wingdings" pitchFamily="2" charset="2"/>
              </a:rPr>
              <a:t>n_g</a:t>
            </a:r>
            <a:r>
              <a:rPr lang="en-US" sz="11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1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100" dirty="0" err="1">
                <a:solidFill>
                  <a:schemeClr val="tx1"/>
                </a:solidFill>
                <a:latin typeface="Arial" panose="020B0604020202020204" pitchFamily="34" charset="0"/>
                <a:cs typeface="Arial" panose="020B0604020202020204" pitchFamily="34" charset="0"/>
                <a:sym typeface="Wingdings" pitchFamily="2" charset="2"/>
              </a:rPr>
              <a:t>L_base</a:t>
            </a:r>
            <a:r>
              <a:rPr lang="en-US" sz="11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100" dirty="0">
                <a:solidFill>
                  <a:schemeClr val="tx1"/>
                </a:solidFill>
                <a:latin typeface="Arial" panose="020B0604020202020204" pitchFamily="34" charset="0"/>
                <a:cs typeface="Arial" panose="020B0604020202020204" pitchFamily="34" charset="0"/>
                <a:sym typeface="Wingdings" pitchFamily="2" charset="2"/>
              </a:rPr>
              <a:t>dL = </a:t>
            </a:r>
            <a:r>
              <a:rPr lang="en-US" sz="1100" dirty="0" err="1">
                <a:solidFill>
                  <a:schemeClr val="tx1"/>
                </a:solidFill>
                <a:latin typeface="Arial" panose="020B0604020202020204" pitchFamily="34" charset="0"/>
                <a:cs typeface="Arial" panose="020B0604020202020204" pitchFamily="34" charset="0"/>
                <a:sym typeface="Wingdings" pitchFamily="2" charset="2"/>
              </a:rPr>
              <a:t>L_base</a:t>
            </a:r>
            <a:r>
              <a:rPr lang="en-US" sz="11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1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100" b="1" dirty="0">
                <a:solidFill>
                  <a:schemeClr val="tx1"/>
                </a:solidFill>
                <a:latin typeface="Arial" panose="020B0604020202020204" pitchFamily="34" charset="0"/>
                <a:cs typeface="Arial" panose="020B0604020202020204" pitchFamily="34" charset="0"/>
                <a:sym typeface="Wingdings" pitchFamily="2" charset="2"/>
              </a:rPr>
              <a:t>Case 1</a:t>
            </a:r>
            <a:r>
              <a:rPr lang="en-US" sz="11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100" dirty="0" err="1">
                <a:solidFill>
                  <a:schemeClr val="tx1"/>
                </a:solidFill>
                <a:latin typeface="Arial" panose="020B0604020202020204" pitchFamily="34" charset="0"/>
                <a:cs typeface="Arial" panose="020B0604020202020204" pitchFamily="34" charset="0"/>
                <a:sym typeface="Wingdings" pitchFamily="2" charset="2"/>
              </a:rPr>
              <a:t>Kb</a:t>
            </a:r>
            <a:r>
              <a:rPr lang="en-US" sz="11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100" dirty="0" err="1">
                <a:solidFill>
                  <a:schemeClr val="tx1"/>
                </a:solidFill>
                <a:latin typeface="Arial" panose="020B0604020202020204" pitchFamily="34" charset="0"/>
                <a:cs typeface="Arial" panose="020B0604020202020204" pitchFamily="34" charset="0"/>
                <a:sym typeface="Wingdings" pitchFamily="2" charset="2"/>
              </a:rPr>
              <a:t>wvl</a:t>
            </a:r>
            <a:endParaRPr lang="en-US" sz="11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100" b="1" dirty="0">
                <a:solidFill>
                  <a:schemeClr val="tx1"/>
                </a:solidFill>
                <a:latin typeface="Arial" panose="020B0604020202020204" pitchFamily="34" charset="0"/>
                <a:cs typeface="Arial" panose="020B0604020202020204" pitchFamily="34" charset="0"/>
                <a:sym typeface="Wingdings" pitchFamily="2" charset="2"/>
              </a:rPr>
              <a:t>Case 2</a:t>
            </a:r>
            <a:r>
              <a:rPr lang="en-US" sz="11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100" dirty="0" err="1">
                <a:solidFill>
                  <a:schemeClr val="tx1"/>
                </a:solidFill>
                <a:latin typeface="Arial" panose="020B0604020202020204" pitchFamily="34" charset="0"/>
                <a:cs typeface="Arial" panose="020B0604020202020204" pitchFamily="34" charset="0"/>
                <a:sym typeface="Wingdings" pitchFamily="2" charset="2"/>
              </a:rPr>
              <a:t>wvl</a:t>
            </a:r>
            <a:endParaRPr lang="en-US" sz="11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100" dirty="0" err="1">
                <a:solidFill>
                  <a:schemeClr val="tx1"/>
                </a:solidFill>
                <a:latin typeface="Arial" panose="020B0604020202020204" pitchFamily="34" charset="0"/>
                <a:cs typeface="Arial" panose="020B0604020202020204" pitchFamily="34" charset="0"/>
                <a:sym typeface="Wingdings" pitchFamily="2" charset="2"/>
              </a:rPr>
              <a:t>Kb</a:t>
            </a:r>
            <a:r>
              <a:rPr lang="en-US" sz="1100" dirty="0">
                <a:solidFill>
                  <a:schemeClr val="tx1"/>
                </a:solidFill>
                <a:latin typeface="Arial" panose="020B0604020202020204" pitchFamily="34" charset="0"/>
                <a:cs typeface="Arial" panose="020B0604020202020204" pitchFamily="34" charset="0"/>
                <a:sym typeface="Wingdings" pitchFamily="2" charset="2"/>
              </a:rPr>
              <a:t>=0.5 for all </a:t>
            </a:r>
            <a:r>
              <a:rPr lang="en-US" sz="1100" dirty="0" err="1">
                <a:solidFill>
                  <a:schemeClr val="tx1"/>
                </a:solidFill>
                <a:latin typeface="Arial" panose="020B0604020202020204" pitchFamily="34" charset="0"/>
                <a:cs typeface="Arial" panose="020B0604020202020204" pitchFamily="34" charset="0"/>
                <a:sym typeface="Wingdings" pitchFamily="2" charset="2"/>
              </a:rPr>
              <a:t>wvl</a:t>
            </a:r>
            <a:endParaRPr lang="en-US" sz="1100" dirty="0">
              <a:solidFill>
                <a:schemeClr val="tx1"/>
              </a:solidFill>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2E647D59-9E7E-290A-DA5A-23DD91E7CF31}"/>
              </a:ext>
            </a:extLst>
          </p:cNvPr>
          <p:cNvSpPr/>
          <p:nvPr/>
        </p:nvSpPr>
        <p:spPr>
          <a:xfrm>
            <a:off x="4943506" y="1418493"/>
            <a:ext cx="4810094"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0F9A665A-5FF1-0B93-3875-3ABA03BCB204}"/>
              </a:ext>
            </a:extLst>
          </p:cNvPr>
          <p:cNvPicPr>
            <a:picLocks noChangeAspect="1"/>
          </p:cNvPicPr>
          <p:nvPr/>
        </p:nvPicPr>
        <p:blipFill>
          <a:blip r:embed="rId3"/>
          <a:stretch>
            <a:fillRect/>
          </a:stretch>
        </p:blipFill>
        <p:spPr>
          <a:xfrm>
            <a:off x="352519" y="1694009"/>
            <a:ext cx="4417149" cy="2754755"/>
          </a:xfrm>
          <a:prstGeom prst="rect">
            <a:avLst/>
          </a:prstGeom>
        </p:spPr>
      </p:pic>
      <p:pic>
        <p:nvPicPr>
          <p:cNvPr id="14" name="Imagen 13">
            <a:extLst>
              <a:ext uri="{FF2B5EF4-FFF2-40B4-BE49-F238E27FC236}">
                <a16:creationId xmlns:a16="http://schemas.microsoft.com/office/drawing/2014/main" id="{5D735C63-27B2-8727-B3DA-952A91717AAC}"/>
              </a:ext>
            </a:extLst>
          </p:cNvPr>
          <p:cNvPicPr>
            <a:picLocks noChangeAspect="1"/>
          </p:cNvPicPr>
          <p:nvPr/>
        </p:nvPicPr>
        <p:blipFill>
          <a:blip r:embed="rId4"/>
          <a:stretch>
            <a:fillRect/>
          </a:stretch>
        </p:blipFill>
        <p:spPr>
          <a:xfrm>
            <a:off x="5017440" y="1720163"/>
            <a:ext cx="4659960" cy="2702446"/>
          </a:xfrm>
          <a:prstGeom prst="rect">
            <a:avLst/>
          </a:prstGeom>
        </p:spPr>
      </p:pic>
      <p:sp>
        <p:nvSpPr>
          <p:cNvPr id="15" name="CuadroTexto 14">
            <a:extLst>
              <a:ext uri="{FF2B5EF4-FFF2-40B4-BE49-F238E27FC236}">
                <a16:creationId xmlns:a16="http://schemas.microsoft.com/office/drawing/2014/main" id="{47459BD4-536A-E63A-6C6C-F5BEE4AD59FA}"/>
              </a:ext>
            </a:extLst>
          </p:cNvPr>
          <p:cNvSpPr txBox="1"/>
          <p:nvPr/>
        </p:nvSpPr>
        <p:spPr>
          <a:xfrm>
            <a:off x="260931" y="4953000"/>
            <a:ext cx="4600326" cy="369332"/>
          </a:xfrm>
          <a:prstGeom prst="rect">
            <a:avLst/>
          </a:prstGeom>
          <a:noFill/>
        </p:spPr>
        <p:txBody>
          <a:bodyPr wrap="square" rtlCol="0">
            <a:spAutoFit/>
          </a:bodyPr>
          <a:lstStyle/>
          <a:p>
            <a:pPr algn="ctr"/>
            <a:r>
              <a:rPr lang="es-ES" dirty="0"/>
              <a:t>Caso 1: Ka=Kb=0.5</a:t>
            </a:r>
          </a:p>
        </p:txBody>
      </p:sp>
      <p:sp>
        <p:nvSpPr>
          <p:cNvPr id="16" name="CuadroTexto 15">
            <a:extLst>
              <a:ext uri="{FF2B5EF4-FFF2-40B4-BE49-F238E27FC236}">
                <a16:creationId xmlns:a16="http://schemas.microsoft.com/office/drawing/2014/main" id="{770C2A44-7470-9814-1794-F19C38DC7BE6}"/>
              </a:ext>
            </a:extLst>
          </p:cNvPr>
          <p:cNvSpPr txBox="1"/>
          <p:nvPr/>
        </p:nvSpPr>
        <p:spPr>
          <a:xfrm>
            <a:off x="4878182" y="4939340"/>
            <a:ext cx="4600326" cy="369332"/>
          </a:xfrm>
          <a:prstGeom prst="rect">
            <a:avLst/>
          </a:prstGeom>
          <a:noFill/>
        </p:spPr>
        <p:txBody>
          <a:bodyPr wrap="square" rtlCol="0">
            <a:spAutoFit/>
          </a:bodyPr>
          <a:lstStyle/>
          <a:p>
            <a:pPr algn="ctr"/>
            <a:r>
              <a:rPr lang="es-ES" dirty="0"/>
              <a:t>Caso 2: Ka=0.1 ; Kb=0.5</a:t>
            </a:r>
          </a:p>
        </p:txBody>
      </p:sp>
    </p:spTree>
    <p:extLst>
      <p:ext uri="{BB962C8B-B14F-4D97-AF65-F5344CB8AC3E}">
        <p14:creationId xmlns:p14="http://schemas.microsoft.com/office/powerpoint/2010/main" val="1475710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1488C-2A9B-E0BC-2E2F-5DB474E2433C}"/>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5C2F6524-94AD-5545-93C4-FE323D87C634}"/>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A852D8A4-A532-0315-4C90-0EEA2D6169A9}"/>
              </a:ext>
            </a:extLst>
          </p:cNvPr>
          <p:cNvSpPr>
            <a:spLocks noGrp="1"/>
          </p:cNvSpPr>
          <p:nvPr>
            <p:ph type="sldNum" sz="quarter" idx="7"/>
          </p:nvPr>
        </p:nvSpPr>
        <p:spPr/>
        <p:txBody>
          <a:bodyPr/>
          <a:lstStyle/>
          <a:p>
            <a:fld id="{C2F52289-4012-4053-9770-FE82CEB9514F}" type="slidenum">
              <a:rPr lang="en-US" smtClean="0"/>
              <a:pPr/>
              <a:t>10</a:t>
            </a:fld>
            <a:endParaRPr lang="en-US" dirty="0"/>
          </a:p>
        </p:txBody>
      </p:sp>
      <p:pic>
        <p:nvPicPr>
          <p:cNvPr id="10" name="Gráfico 9">
            <a:extLst>
              <a:ext uri="{FF2B5EF4-FFF2-40B4-BE49-F238E27FC236}">
                <a16:creationId xmlns:a16="http://schemas.microsoft.com/office/drawing/2014/main" id="{FE2CA7EF-F040-C1FF-B2E2-4316BDE864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DB03CF09-E109-DDEA-EE00-FF7E4605F8D9}"/>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27E1CFA5-0DC4-5ECA-47AF-DD93CAB9D72D}"/>
                  </a:ext>
                </a:extLst>
              </p:cNvPr>
              <p:cNvSpPr txBox="1"/>
              <p:nvPr/>
            </p:nvSpPr>
            <p:spPr>
              <a:xfrm>
                <a:off x="583019" y="1371600"/>
                <a:ext cx="11199971" cy="4524315"/>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este apartado, vemos que en los dos casos aparece un patrón de interferencia, pero con poco contraste porque uno de los brazos es mucho más largo y tiene más pérdidas. Al llegar las dos señales al acoplador de salida, no tienen la misma amplitud, así que la cancelación no es completa y los mínimos no bajan tanto como en los casos anteriores.</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el caso 1 </a:t>
                </a:r>
                <a14:m>
                  <m:oMath xmlns:m="http://schemas.openxmlformats.org/officeDocument/2006/math">
                    <m:d>
                      <m:dPr>
                        <m:ctrlPr>
                          <a:rPr lang="ar-AE" sz="1200"/>
                        </m:ctrlPr>
                      </m:dPr>
                      <m:e>
                        <m:sSub>
                          <m:sSubPr>
                            <m:ctrlPr>
                              <a:rPr lang="ar-AE" sz="1200"/>
                            </m:ctrlPr>
                          </m:sSubPr>
                          <m:e>
                            <m:r>
                              <m:rPr>
                                <m:sty m:val="p"/>
                              </m:rPr>
                              <a:rPr lang="ar-AE" sz="1200" b="0" i="0" smtClean="0">
                                <a:latin typeface="Cambria Math" panose="02040503050406030204" pitchFamily="18" charset="0"/>
                              </a:rPr>
                              <m:t>K</m:t>
                            </m:r>
                          </m:e>
                          <m:sub>
                            <m:r>
                              <m:rPr>
                                <m:sty m:val="p"/>
                              </m:rPr>
                              <a:rPr lang="ar-AE" sz="1200" b="0" i="0" smtClean="0">
                                <a:latin typeface="Cambria Math" panose="02040503050406030204" pitchFamily="18" charset="0"/>
                              </a:rPr>
                              <m:t>a</m:t>
                            </m:r>
                          </m:sub>
                        </m:sSub>
                        <m:r>
                          <a:rPr lang="ar-AE" sz="1200" b="0" i="0" smtClean="0">
                            <a:latin typeface="Cambria Math" panose="02040503050406030204" pitchFamily="18" charset="0"/>
                          </a:rPr>
                          <m:t>=</m:t>
                        </m:r>
                        <m:sSub>
                          <m:sSubPr>
                            <m:ctrlPr>
                              <a:rPr lang="ar-AE" sz="1200"/>
                            </m:ctrlPr>
                          </m:sSubPr>
                          <m:e>
                            <m:r>
                              <m:rPr>
                                <m:sty m:val="p"/>
                              </m:rPr>
                              <a:rPr lang="ar-AE" sz="1200" b="0" i="0" smtClean="0">
                                <a:latin typeface="Cambria Math" panose="02040503050406030204" pitchFamily="18" charset="0"/>
                              </a:rPr>
                              <m:t>K</m:t>
                            </m:r>
                          </m:e>
                          <m:sub>
                            <m:r>
                              <m:rPr>
                                <m:sty m:val="p"/>
                              </m:rPr>
                              <a:rPr lang="ar-AE" sz="1200" b="0" i="0" smtClean="0">
                                <a:latin typeface="Cambria Math" panose="02040503050406030204" pitchFamily="18" charset="0"/>
                              </a:rPr>
                              <m:t>b</m:t>
                            </m:r>
                          </m:sub>
                        </m:sSub>
                        <m:r>
                          <a:rPr lang="ar-AE" sz="1200" b="0" i="0" smtClean="0">
                            <a:latin typeface="Cambria Math" panose="02040503050406030204" pitchFamily="18" charset="0"/>
                          </a:rPr>
                          <m:t>=</m:t>
                        </m:r>
                        <m:r>
                          <a:rPr lang="ar-AE" sz="1200" b="0" i="0" smtClean="0">
                            <a:latin typeface="Cambria Math" panose="02040503050406030204" pitchFamily="18" charset="0"/>
                          </a:rPr>
                          <m:t>0</m:t>
                        </m:r>
                        <m:r>
                          <a:rPr lang="ar-AE" sz="1200" b="0" i="0" smtClean="0">
                            <a:latin typeface="Cambria Math" panose="02040503050406030204" pitchFamily="18" charset="0"/>
                          </a:rPr>
                          <m:t>.</m:t>
                        </m:r>
                        <m:r>
                          <a:rPr lang="ar-AE" sz="1200" b="0" i="0" smtClean="0">
                            <a:latin typeface="Cambria Math" panose="02040503050406030204" pitchFamily="18" charset="0"/>
                          </a:rPr>
                          <m:t>5</m:t>
                        </m:r>
                      </m:e>
                    </m:d>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las oscilaciones son más marcadas porque el reparto de potencia de entrada es más equilibrado. Aunque el brazo largo pierde más potencia, las amplitudes que llegan al final siguen siendo más parecidas que en el caso 2. Por eso el radio de extinción es mayor:</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	ER = </a:t>
                </a:r>
                <a:r>
                  <a:rPr lang="es-ES" sz="1200" dirty="0" err="1">
                    <a:latin typeface="Arial" panose="020B0604020202020204" pitchFamily="34" charset="0"/>
                    <a:cs typeface="Arial" panose="020B0604020202020204" pitchFamily="34" charset="0"/>
                  </a:rPr>
                  <a:t>Pmáx</a:t>
                </a:r>
                <a:r>
                  <a:rPr lang="es-ES" sz="1200" dirty="0">
                    <a:latin typeface="Arial" panose="020B0604020202020204" pitchFamily="34" charset="0"/>
                    <a:cs typeface="Arial" panose="020B0604020202020204" pitchFamily="34" charset="0"/>
                  </a:rPr>
                  <a:t> – </a:t>
                </a:r>
                <a:r>
                  <a:rPr lang="es-ES" sz="1200" dirty="0" err="1">
                    <a:latin typeface="Arial" panose="020B0604020202020204" pitchFamily="34" charset="0"/>
                    <a:cs typeface="Arial" panose="020B0604020202020204" pitchFamily="34" charset="0"/>
                  </a:rPr>
                  <a:t>Pmín</a:t>
                </a:r>
                <a:r>
                  <a:rPr lang="es-ES" sz="1200" dirty="0">
                    <a:latin typeface="Arial" panose="020B0604020202020204" pitchFamily="34" charset="0"/>
                    <a:cs typeface="Arial" panose="020B0604020202020204" pitchFamily="34" charset="0"/>
                  </a:rPr>
                  <a:t> = -5.75 dB – (-7.1 dB) = 1.35 dB</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el caso 2 </a:t>
                </a:r>
                <a14:m>
                  <m:oMath xmlns:m="http://schemas.openxmlformats.org/officeDocument/2006/math">
                    <m:d>
                      <m:dPr>
                        <m:sepChr m:val=","/>
                        <m:ctrlPr>
                          <a:rPr lang="ar-AE" sz="1200"/>
                        </m:ctrlPr>
                      </m:dPr>
                      <m:e>
                        <m:sSub>
                          <m:sSubPr>
                            <m:ctrlPr>
                              <a:rPr lang="ar-AE" sz="1200"/>
                            </m:ctrlPr>
                          </m:sSubPr>
                          <m:e>
                            <m:r>
                              <m:rPr>
                                <m:sty m:val="p"/>
                              </m:rPr>
                              <a:rPr lang="ar-AE" sz="1200" b="0" i="0" smtClean="0">
                                <a:latin typeface="Cambria Math" panose="02040503050406030204" pitchFamily="18" charset="0"/>
                              </a:rPr>
                              <m:t>K</m:t>
                            </m:r>
                          </m:e>
                          <m:sub>
                            <m:r>
                              <m:rPr>
                                <m:sty m:val="p"/>
                              </m:rPr>
                              <a:rPr lang="ar-AE" sz="1200" b="0" i="0" smtClean="0">
                                <a:latin typeface="Cambria Math" panose="02040503050406030204" pitchFamily="18" charset="0"/>
                              </a:rPr>
                              <m:t>a</m:t>
                            </m:r>
                          </m:sub>
                        </m:sSub>
                      </m:e>
                      <m:e>
                        <m:r>
                          <a:rPr lang="ar-AE" sz="1200" b="0" i="0" smtClean="0">
                            <a:latin typeface="Cambria Math" panose="02040503050406030204" pitchFamily="18" charset="0"/>
                          </a:rPr>
                          <m:t>=</m:t>
                        </m:r>
                        <m:r>
                          <a:rPr lang="ar-AE" sz="1200" b="0" i="0" smtClean="0">
                            <a:latin typeface="Cambria Math" panose="02040503050406030204" pitchFamily="18" charset="0"/>
                          </a:rPr>
                          <m:t>0</m:t>
                        </m:r>
                        <m:r>
                          <a:rPr lang="ar-AE" sz="1200" b="0" i="0" smtClean="0">
                            <a:latin typeface="Cambria Math" panose="02040503050406030204" pitchFamily="18" charset="0"/>
                          </a:rPr>
                          <m:t>.</m:t>
                        </m:r>
                        <m:r>
                          <a:rPr lang="ar-AE" sz="1200" b="0" i="0" smtClean="0">
                            <a:latin typeface="Cambria Math" panose="02040503050406030204" pitchFamily="18" charset="0"/>
                          </a:rPr>
                          <m:t>1</m:t>
                        </m:r>
                        <m:r>
                          <m:rPr>
                            <m:nor/>
                          </m:rPr>
                          <a:rPr lang="ar-AE" sz="1200">
                            <a:latin typeface="Arial" panose="020B0604020202020204" pitchFamily="34" charset="0"/>
                            <a:cs typeface="Arial" panose="020B0604020202020204" pitchFamily="34" charset="0"/>
                          </a:rPr>
                          <m:t> </m:t>
                        </m:r>
                        <m:sSub>
                          <m:sSubPr>
                            <m:ctrlPr>
                              <a:rPr lang="ar-AE" sz="1200"/>
                            </m:ctrlPr>
                          </m:sSubPr>
                          <m:e>
                            <m:r>
                              <m:rPr>
                                <m:sty m:val="p"/>
                              </m:rPr>
                              <a:rPr lang="ar-AE" sz="1200" b="0" i="0" smtClean="0">
                                <a:latin typeface="Cambria Math" panose="02040503050406030204" pitchFamily="18" charset="0"/>
                              </a:rPr>
                              <m:t>K</m:t>
                            </m:r>
                          </m:e>
                          <m:sub>
                            <m:r>
                              <m:rPr>
                                <m:sty m:val="p"/>
                              </m:rPr>
                              <a:rPr lang="ar-AE" sz="1200" b="0" i="0" smtClean="0">
                                <a:latin typeface="Cambria Math" panose="02040503050406030204" pitchFamily="18" charset="0"/>
                              </a:rPr>
                              <m:t>b</m:t>
                            </m:r>
                          </m:sub>
                        </m:sSub>
                        <m:r>
                          <a:rPr lang="ar-AE" sz="1200" b="0" i="0" smtClean="0">
                            <a:latin typeface="Cambria Math" panose="02040503050406030204" pitchFamily="18" charset="0"/>
                          </a:rPr>
                          <m:t>=</m:t>
                        </m:r>
                        <m:r>
                          <a:rPr lang="ar-AE" sz="1200" b="0" i="0" smtClean="0">
                            <a:latin typeface="Cambria Math" panose="02040503050406030204" pitchFamily="18" charset="0"/>
                          </a:rPr>
                          <m:t>0</m:t>
                        </m:r>
                        <m:r>
                          <a:rPr lang="ar-AE" sz="1200" b="0" i="0" smtClean="0">
                            <a:latin typeface="Cambria Math" panose="02040503050406030204" pitchFamily="18" charset="0"/>
                          </a:rPr>
                          <m:t>.</m:t>
                        </m:r>
                        <m:r>
                          <a:rPr lang="ar-AE" sz="1200" b="0" i="0" smtClean="0">
                            <a:latin typeface="Cambria Math" panose="02040503050406030204" pitchFamily="18" charset="0"/>
                          </a:rPr>
                          <m:t>5</m:t>
                        </m:r>
                      </m:e>
                    </m:d>
                    <m:r>
                      <a:rPr lang="es-ES" sz="1200" b="0" i="0" smtClean="0">
                        <a:latin typeface="Cambria Math" panose="02040503050406030204" pitchFamily="18" charset="0"/>
                      </a:rPr>
                      <m:t>, </m:t>
                    </m:r>
                  </m:oMath>
                </a14:m>
                <a:r>
                  <a:rPr lang="es-ES" sz="1200" dirty="0">
                    <a:latin typeface="Arial" panose="020B0604020202020204" pitchFamily="34" charset="0"/>
                    <a:cs typeface="Arial" panose="020B0604020202020204" pitchFamily="34" charset="0"/>
                  </a:rPr>
                  <a:t>también hay interferencia, pero las oscilaciones son más pequeñas. Al cambiar </a:t>
                </a:r>
                <a14:m>
                  <m:oMath xmlns:m="http://schemas.openxmlformats.org/officeDocument/2006/math">
                    <m:sSub>
                      <m:sSubPr>
                        <m:ctrlPr>
                          <a:rPr lang="ar-AE" sz="1200"/>
                        </m:ctrlPr>
                      </m:sSubPr>
                      <m:e>
                        <m:r>
                          <a:rPr lang="ar-AE" sz="1200" b="0" i="1" smtClean="0">
                            <a:latin typeface="Cambria Math" panose="02040503050406030204" pitchFamily="18" charset="0"/>
                          </a:rPr>
                          <m:t>𝐾</m:t>
                        </m:r>
                      </m:e>
                      <m:sub>
                        <m:r>
                          <a:rPr lang="ar-AE" sz="1200" b="0" i="1" smtClean="0">
                            <a:latin typeface="Cambria Math" panose="02040503050406030204" pitchFamily="18" charset="0"/>
                          </a:rPr>
                          <m:t>𝑎</m:t>
                        </m:r>
                      </m:sub>
                    </m:sSub>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la potencia se reparte de forma más desigual entre los brazos y no se compensan bien las pérdidas del brazo largo. Por eso los máximos y mínimos están más cerca y el radio de extinción es menor:</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	ER = </a:t>
                </a:r>
                <a:r>
                  <a:rPr lang="es-ES" sz="1200" dirty="0" err="1">
                    <a:latin typeface="Arial" panose="020B0604020202020204" pitchFamily="34" charset="0"/>
                    <a:cs typeface="Arial" panose="020B0604020202020204" pitchFamily="34" charset="0"/>
                  </a:rPr>
                  <a:t>Pmáx</a:t>
                </a:r>
                <a:r>
                  <a:rPr lang="es-ES" sz="1200" dirty="0">
                    <a:latin typeface="Arial" panose="020B0604020202020204" pitchFamily="34" charset="0"/>
                    <a:cs typeface="Arial" panose="020B0604020202020204" pitchFamily="34" charset="0"/>
                  </a:rPr>
                  <a:t> – </a:t>
                </a:r>
                <a:r>
                  <a:rPr lang="es-ES" sz="1200" dirty="0" err="1">
                    <a:latin typeface="Arial" panose="020B0604020202020204" pitchFamily="34" charset="0"/>
                    <a:cs typeface="Arial" panose="020B0604020202020204" pitchFamily="34" charset="0"/>
                  </a:rPr>
                  <a:t>Pmín</a:t>
                </a:r>
                <a:r>
                  <a:rPr lang="es-ES" sz="1200" dirty="0">
                    <a:latin typeface="Arial" panose="020B0604020202020204" pitchFamily="34" charset="0"/>
                    <a:cs typeface="Arial" panose="020B0604020202020204" pitchFamily="34" charset="0"/>
                  </a:rPr>
                  <a:t> = -7.5 dB – (-8.2 dB) = 0.70 dB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Por tanto, el caso 1 tiene mejor visibilidad de las franjas, mientras que el caso 2 queda más plano porque las potencias que interfieren están menos equilibradas.</a:t>
                </a:r>
              </a:p>
              <a:p>
                <a:pPr algn="just"/>
                <a:endParaRPr lang="en-US" sz="1200" b="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Extra: What coupling coefficient will you select for the input coupler if you want to match the losses of the longer arm? Simulate and extract the 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27E1CFA5-0DC4-5ECA-47AF-DD93CAB9D72D}"/>
                  </a:ext>
                </a:extLst>
              </p:cNvPr>
              <p:cNvSpPr txBox="1">
                <a:spLocks noRot="1" noChangeAspect="1" noMove="1" noResize="1" noEditPoints="1" noAdjustHandles="1" noChangeArrowheads="1" noChangeShapeType="1" noTextEdit="1"/>
              </p:cNvSpPr>
              <p:nvPr/>
            </p:nvSpPr>
            <p:spPr>
              <a:xfrm>
                <a:off x="583019" y="1371600"/>
                <a:ext cx="11199971" cy="4524315"/>
              </a:xfrm>
              <a:prstGeom prst="rect">
                <a:avLst/>
              </a:prstGeom>
              <a:blipFill>
                <a:blip r:embed="rId3"/>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2931196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11</a:t>
            </a:fld>
            <a:endParaRPr lang="en-US" dirty="0"/>
          </a:p>
        </p:txBody>
      </p:sp>
      <p:sp>
        <p:nvSpPr>
          <p:cNvPr id="11" name="Rectángulo 10">
            <a:extLst>
              <a:ext uri="{FF2B5EF4-FFF2-40B4-BE49-F238E27FC236}">
                <a16:creationId xmlns:a16="http://schemas.microsoft.com/office/drawing/2014/main" id="{B811A5F9-C0B5-716C-70FB-9472E1BC2CD3}"/>
              </a:ext>
            </a:extLst>
          </p:cNvPr>
          <p:cNvSpPr/>
          <p:nvPr/>
        </p:nvSpPr>
        <p:spPr>
          <a:xfrm>
            <a:off x="381000" y="1418373"/>
            <a:ext cx="59436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6380141" y="4992222"/>
            <a:ext cx="5494199" cy="784830"/>
          </a:xfrm>
          <a:prstGeom prst="rect">
            <a:avLst/>
          </a:prstGeom>
          <a:noFill/>
        </p:spPr>
        <p:txBody>
          <a:bodyPr wrap="square" rtlCol="0">
            <a:spAutoFit/>
          </a:bodyPr>
          <a:lstStyle/>
          <a:p>
            <a:pPr algn="ctr"/>
            <a:r>
              <a:rPr lang="es-ES" sz="1500" b="1" dirty="0">
                <a:latin typeface="Arial" panose="020B0604020202020204" pitchFamily="34" charset="0"/>
                <a:cs typeface="Arial" panose="020B0604020202020204" pitchFamily="34" charset="0"/>
              </a:rPr>
              <a:t>Single ring</a:t>
            </a:r>
          </a:p>
          <a:p>
            <a:pPr algn="ctr"/>
            <a:r>
              <a:rPr lang="es-ES" sz="1500" b="1" dirty="0">
                <a:latin typeface="Arial" panose="020B0604020202020204" pitchFamily="34" charset="0"/>
                <a:cs typeface="Arial" panose="020B0604020202020204" pitchFamily="34" charset="0"/>
              </a:rPr>
              <a:t>transfer </a:t>
            </a:r>
            <a:r>
              <a:rPr lang="es-ES" sz="1500" b="1" dirty="0" err="1">
                <a:latin typeface="Arial" panose="020B0604020202020204" pitchFamily="34" charset="0"/>
                <a:cs typeface="Arial" panose="020B0604020202020204" pitchFamily="34" charset="0"/>
              </a:rPr>
              <a:t>functions</a:t>
            </a:r>
            <a:endParaRPr lang="es-ES" sz="1500" b="1" dirty="0">
              <a:latin typeface="Arial" panose="020B0604020202020204" pitchFamily="34" charset="0"/>
              <a:cs typeface="Arial" panose="020B0604020202020204" pitchFamily="34" charset="0"/>
            </a:endParaRPr>
          </a:p>
          <a:p>
            <a:pPr algn="ctr"/>
            <a:r>
              <a:rPr lang="es-ES" sz="1500" b="1" dirty="0" err="1">
                <a:latin typeface="Arial" panose="020B0604020202020204" pitchFamily="34" charset="0"/>
                <a:cs typeface="Arial" panose="020B0604020202020204" pitchFamily="34" charset="0"/>
              </a:rPr>
              <a:t>Logaritmic</a:t>
            </a:r>
            <a:r>
              <a:rPr lang="es-ES" sz="1500" b="1" dirty="0">
                <a:latin typeface="Arial" panose="020B0604020202020204" pitchFamily="34" charset="0"/>
                <a:cs typeface="Arial" panose="020B0604020202020204" pitchFamily="34" charset="0"/>
              </a:rPr>
              <a:t> </a:t>
            </a:r>
            <a:r>
              <a:rPr lang="es-ES" sz="1500" b="1" dirty="0" err="1">
                <a:latin typeface="Arial" panose="020B0604020202020204" pitchFamily="34" charset="0"/>
                <a:cs typeface="Arial" panose="020B0604020202020204" pitchFamily="34" charset="0"/>
              </a:rPr>
              <a:t>units</a:t>
            </a:r>
            <a:endParaRPr lang="en-US" sz="1500" b="1" dirty="0">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6400357" y="1406611"/>
            <a:ext cx="5563043"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377890" y="4962827"/>
            <a:ext cx="5943600" cy="784830"/>
          </a:xfrm>
          <a:prstGeom prst="rect">
            <a:avLst/>
          </a:prstGeom>
          <a:noFill/>
        </p:spPr>
        <p:txBody>
          <a:bodyPr wrap="square" rtlCol="0">
            <a:spAutoFit/>
          </a:bodyPr>
          <a:lstStyle/>
          <a:p>
            <a:pPr algn="ctr"/>
            <a:r>
              <a:rPr lang="es-ES" sz="1500" b="1" dirty="0">
                <a:latin typeface="Arial" panose="020B0604020202020204" pitchFamily="34" charset="0"/>
                <a:cs typeface="Arial" panose="020B0604020202020204" pitchFamily="34" charset="0"/>
              </a:rPr>
              <a:t>Single ring</a:t>
            </a:r>
          </a:p>
          <a:p>
            <a:pPr algn="ctr"/>
            <a:r>
              <a:rPr lang="es-ES" sz="1500" b="1" dirty="0">
                <a:latin typeface="Arial" panose="020B0604020202020204" pitchFamily="34" charset="0"/>
                <a:cs typeface="Arial" panose="020B0604020202020204" pitchFamily="34" charset="0"/>
              </a:rPr>
              <a:t>transfer </a:t>
            </a:r>
            <a:r>
              <a:rPr lang="es-ES" sz="1500" b="1" dirty="0" err="1">
                <a:latin typeface="Arial" panose="020B0604020202020204" pitchFamily="34" charset="0"/>
                <a:cs typeface="Arial" panose="020B0604020202020204" pitchFamily="34" charset="0"/>
              </a:rPr>
              <a:t>functions</a:t>
            </a:r>
            <a:endParaRPr lang="es-ES" sz="1500" b="1" dirty="0">
              <a:latin typeface="Arial" panose="020B0604020202020204" pitchFamily="34" charset="0"/>
              <a:cs typeface="Arial" panose="020B0604020202020204" pitchFamily="34" charset="0"/>
            </a:endParaRPr>
          </a:p>
          <a:p>
            <a:pPr algn="ctr"/>
            <a:r>
              <a:rPr lang="es-ES" sz="1500" b="1" dirty="0">
                <a:latin typeface="Arial" panose="020B0604020202020204" pitchFamily="34" charset="0"/>
                <a:cs typeface="Arial" panose="020B0604020202020204" pitchFamily="34" charset="0"/>
              </a:rPr>
              <a:t>Linear </a:t>
            </a:r>
            <a:r>
              <a:rPr lang="es-ES" sz="1500" b="1" dirty="0" err="1">
                <a:latin typeface="Arial" panose="020B0604020202020204" pitchFamily="34" charset="0"/>
                <a:cs typeface="Arial" panose="020B0604020202020204" pitchFamily="34" charset="0"/>
              </a:rPr>
              <a:t>units</a:t>
            </a:r>
            <a:endParaRPr lang="en-US" sz="1500" b="1" dirty="0">
              <a:latin typeface="Arial" panose="020B0604020202020204" pitchFamily="34" charset="0"/>
              <a:cs typeface="Arial" panose="020B0604020202020204" pitchFamily="34" charset="0"/>
            </a:endParaRPr>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4" name="Imagen 3">
            <a:extLst>
              <a:ext uri="{FF2B5EF4-FFF2-40B4-BE49-F238E27FC236}">
                <a16:creationId xmlns:a16="http://schemas.microsoft.com/office/drawing/2014/main" id="{D59C5544-102A-D84B-7FAD-EF683C90971E}"/>
              </a:ext>
            </a:extLst>
          </p:cNvPr>
          <p:cNvPicPr>
            <a:picLocks noChangeAspect="1"/>
          </p:cNvPicPr>
          <p:nvPr/>
        </p:nvPicPr>
        <p:blipFill>
          <a:blip r:embed="rId3"/>
          <a:stretch>
            <a:fillRect/>
          </a:stretch>
        </p:blipFill>
        <p:spPr>
          <a:xfrm>
            <a:off x="694038" y="2035988"/>
            <a:ext cx="5562599" cy="2089733"/>
          </a:xfrm>
          <a:prstGeom prst="rect">
            <a:avLst/>
          </a:prstGeom>
        </p:spPr>
      </p:pic>
      <p:pic>
        <p:nvPicPr>
          <p:cNvPr id="13" name="Imagen 12">
            <a:extLst>
              <a:ext uri="{FF2B5EF4-FFF2-40B4-BE49-F238E27FC236}">
                <a16:creationId xmlns:a16="http://schemas.microsoft.com/office/drawing/2014/main" id="{99E5AF44-A482-5D33-BA73-4170C08EF47E}"/>
              </a:ext>
            </a:extLst>
          </p:cNvPr>
          <p:cNvPicPr>
            <a:picLocks noChangeAspect="1"/>
          </p:cNvPicPr>
          <p:nvPr/>
        </p:nvPicPr>
        <p:blipFill>
          <a:blip r:embed="rId4"/>
          <a:stretch>
            <a:fillRect/>
          </a:stretch>
        </p:blipFill>
        <p:spPr>
          <a:xfrm>
            <a:off x="6434778" y="1991549"/>
            <a:ext cx="5494199" cy="2445620"/>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D9DC5-2119-778F-1CEA-62CA2096919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27BDEB7-E5E5-2B14-339B-6354C271BC5C}"/>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FE607FC6-2DB4-D8A5-4787-E472B6917DB2}"/>
              </a:ext>
            </a:extLst>
          </p:cNvPr>
          <p:cNvSpPr>
            <a:spLocks noGrp="1"/>
          </p:cNvSpPr>
          <p:nvPr>
            <p:ph type="sldNum" sz="quarter" idx="7"/>
          </p:nvPr>
        </p:nvSpPr>
        <p:spPr/>
        <p:txBody>
          <a:bodyPr/>
          <a:lstStyle/>
          <a:p>
            <a:fld id="{C2F52289-4012-4053-9770-FE82CEB9514F}" type="slidenum">
              <a:rPr lang="en-US" smtClean="0"/>
              <a:pPr/>
              <a:t>12</a:t>
            </a:fld>
            <a:endParaRPr lang="en-US" dirty="0"/>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8C73EB0F-8A9F-1299-3B51-29BDB979D828}"/>
                  </a:ext>
                </a:extLst>
              </p:cNvPr>
              <p:cNvSpPr txBox="1"/>
              <p:nvPr/>
            </p:nvSpPr>
            <p:spPr>
              <a:xfrm>
                <a:off x="419814" y="1321801"/>
                <a:ext cx="11352371" cy="4094711"/>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el resonador en anillo se ven varias caídas de transmisión. Estas caídas aparecen cuando la luz que da la vuelta al anillo vuelve en fase consigo misma y se produce resonancia. En esas longitudes de onda, parte de la potencia queda acoplada al anillo y por eso la transmisión en la guía baja.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FSR es la separación entre dos resonancias consecutivas. En este caso es aproximadamente 24.025 nm, que coincide con la separación entre los mínimos de la gráfica. El FSR depende del perímetro del anillo: si el perímetro aumenta, el FSR disminuye, porque la luz acumula más fase en cada vuelta y las resonancias aparecen más juntas</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escala lineal se aprecia mejor la forma de los mínimos, mientras que en escala logarítmica se ven mejor las caídas de potencia.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FSR se calcula usando el perímetro del anillo: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FSR = </a:t>
                </a:r>
                <a14:m>
                  <m:oMath xmlns:m="http://schemas.openxmlformats.org/officeDocument/2006/math">
                    <m:f>
                      <m:fPr>
                        <m:ctrlPr>
                          <a:rPr lang="es-ES" sz="1200" b="0" i="1" smtClean="0">
                            <a:latin typeface="Cambria Math" panose="02040503050406030204" pitchFamily="18" charset="0"/>
                          </a:rPr>
                        </m:ctrlPr>
                      </m:fPr>
                      <m:num>
                        <m:r>
                          <a:rPr lang="ar-AE" sz="1200" i="1">
                            <a:latin typeface="Cambria Math" panose="02040503050406030204" pitchFamily="18" charset="0"/>
                          </a:rPr>
                          <m:t>𝜆</m:t>
                        </m:r>
                        <m:sSup>
                          <m:sSupPr>
                            <m:ctrlPr>
                              <a:rPr lang="es-ES" sz="1200" b="0" i="1" smtClean="0">
                                <a:latin typeface="Cambria Math" panose="02040503050406030204" pitchFamily="18" charset="0"/>
                              </a:rPr>
                            </m:ctrlPr>
                          </m:sSupPr>
                          <m:e>
                            <m:r>
                              <a:rPr lang="es-ES" sz="1200" b="0" i="1" smtClean="0">
                                <a:latin typeface="Cambria Math" panose="02040503050406030204" pitchFamily="18" charset="0"/>
                              </a:rPr>
                              <m:t>𝑜</m:t>
                            </m:r>
                          </m:e>
                          <m:sup>
                            <m:r>
                              <a:rPr lang="es-ES" sz="1200" b="0" i="1" smtClean="0">
                                <a:latin typeface="Cambria Math" panose="02040503050406030204" pitchFamily="18" charset="0"/>
                              </a:rPr>
                              <m:t>2</m:t>
                            </m:r>
                          </m:sup>
                        </m:sSup>
                      </m:num>
                      <m:den>
                        <m:r>
                          <a:rPr lang="es-ES" sz="1200" b="0" i="1" smtClean="0">
                            <a:latin typeface="Cambria Math" panose="02040503050406030204" pitchFamily="18" charset="0"/>
                          </a:rPr>
                          <m:t>𝑛𝑔</m:t>
                        </m:r>
                        <m:r>
                          <a:rPr lang="es-ES" sz="1200" b="0" i="1" smtClean="0">
                            <a:latin typeface="Cambria Math" panose="02040503050406030204" pitchFamily="18" charset="0"/>
                          </a:rPr>
                          <m:t>∗</m:t>
                        </m:r>
                        <m:r>
                          <a:rPr lang="es-ES" sz="1200" b="0" i="1" smtClean="0">
                            <a:latin typeface="Cambria Math" panose="02040503050406030204" pitchFamily="18" charset="0"/>
                          </a:rPr>
                          <m:t>𝐿𝑟</m:t>
                        </m:r>
                      </m:den>
                    </m:f>
                  </m:oMath>
                </a14:m>
                <a:r>
                  <a:rPr lang="es-ES" sz="1200" dirty="0">
                    <a:latin typeface="Arial" panose="020B0604020202020204" pitchFamily="34" charset="0"/>
                    <a:cs typeface="Arial" panose="020B0604020202020204" pitchFamily="34" charset="0"/>
                  </a:rPr>
                  <a:t>, donde los valores a usar son ng=2 siendo el índice de grupo, Lr=50um siendo la longitud del anillo y </a:t>
                </a:r>
                <a14:m>
                  <m:oMath xmlns:m="http://schemas.openxmlformats.org/officeDocument/2006/math">
                    <m:r>
                      <a:rPr lang="ar-AE" sz="1200" i="1">
                        <a:latin typeface="Cambria Math" panose="02040503050406030204" pitchFamily="18" charset="0"/>
                      </a:rPr>
                      <m:t>𝜆</m:t>
                    </m:r>
                    <m:r>
                      <a:rPr lang="es-ES" sz="1200" b="0" i="1" smtClean="0">
                        <a:latin typeface="Cambria Math" panose="02040503050406030204" pitchFamily="18" charset="0"/>
                      </a:rPr>
                      <m:t>𝑜</m:t>
                    </m:r>
                  </m:oMath>
                </a14:m>
                <a:r>
                  <a:rPr lang="es-ES" sz="1200" dirty="0">
                    <a:latin typeface="Arial" panose="020B0604020202020204" pitchFamily="34" charset="0"/>
                    <a:cs typeface="Arial" panose="020B0604020202020204" pitchFamily="34" charset="0"/>
                  </a:rPr>
                  <a:t>=1.55um, resultando un FSR=24.025nm.</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Este valor coincide con la gráfica, porque los mínimos de transmisión aparecen separados aproximadamente 24 nm. Además, se ve que el FSR depende directamente del perímetro del anillo: si el perímetro aumenta, el FSR disminuye, y las resonancias aparecen más juntas.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8" name="CuadroTexto 7">
                <a:extLst>
                  <a:ext uri="{FF2B5EF4-FFF2-40B4-BE49-F238E27FC236}">
                    <a16:creationId xmlns:a16="http://schemas.microsoft.com/office/drawing/2014/main" id="{8C73EB0F-8A9F-1299-3B51-29BDB979D828}"/>
                  </a:ext>
                </a:extLst>
              </p:cNvPr>
              <p:cNvSpPr txBox="1">
                <a:spLocks noRot="1" noChangeAspect="1" noMove="1" noResize="1" noEditPoints="1" noAdjustHandles="1" noChangeArrowheads="1" noChangeShapeType="1" noTextEdit="1"/>
              </p:cNvSpPr>
              <p:nvPr/>
            </p:nvSpPr>
            <p:spPr>
              <a:xfrm>
                <a:off x="419814" y="1321801"/>
                <a:ext cx="11352371" cy="4094711"/>
              </a:xfrm>
              <a:prstGeom prst="rect">
                <a:avLst/>
              </a:prstGeom>
              <a:blipFill>
                <a:blip r:embed="rId2"/>
                <a:stretch>
                  <a:fillRect/>
                </a:stretch>
              </a:blipFill>
              <a:ln w="28575">
                <a:solidFill>
                  <a:srgbClr val="E0700D"/>
                </a:solidFill>
              </a:ln>
            </p:spPr>
            <p:txBody>
              <a:bodyPr/>
              <a:lstStyle/>
              <a:p>
                <a:r>
                  <a:rPr lang="es-ES">
                    <a:noFill/>
                  </a:rPr>
                  <a:t> </a:t>
                </a:r>
              </a:p>
            </p:txBody>
          </p:sp>
        </mc:Fallback>
      </mc:AlternateContent>
      <p:pic>
        <p:nvPicPr>
          <p:cNvPr id="9" name="Gráfico 8">
            <a:extLst>
              <a:ext uri="{FF2B5EF4-FFF2-40B4-BE49-F238E27FC236}">
                <a16:creationId xmlns:a16="http://schemas.microsoft.com/office/drawing/2014/main" id="{2E92450A-C494-537A-0AC0-AA50553FC5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49DBCD56-46F7-4EEA-E9A1-7E20771C72FF}"/>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3" name="Imagen 2">
            <a:extLst>
              <a:ext uri="{FF2B5EF4-FFF2-40B4-BE49-F238E27FC236}">
                <a16:creationId xmlns:a16="http://schemas.microsoft.com/office/drawing/2014/main" id="{370707E7-A3AD-E843-5082-67390FAE8141}"/>
              </a:ext>
            </a:extLst>
          </p:cNvPr>
          <p:cNvPicPr>
            <a:picLocks noChangeAspect="1"/>
          </p:cNvPicPr>
          <p:nvPr/>
        </p:nvPicPr>
        <p:blipFill>
          <a:blip r:embed="rId4"/>
          <a:stretch>
            <a:fillRect/>
          </a:stretch>
        </p:blipFill>
        <p:spPr>
          <a:xfrm>
            <a:off x="9753600" y="2971800"/>
            <a:ext cx="1752600" cy="1289985"/>
          </a:xfrm>
          <a:prstGeom prst="rect">
            <a:avLst/>
          </a:prstGeom>
        </p:spPr>
      </p:pic>
    </p:spTree>
    <p:extLst>
      <p:ext uri="{BB962C8B-B14F-4D97-AF65-F5344CB8AC3E}">
        <p14:creationId xmlns:p14="http://schemas.microsoft.com/office/powerpoint/2010/main" val="2941454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13</a:t>
            </a:fld>
            <a:endParaRPr lang="en-US" dirty="0"/>
          </a:p>
        </p:txBody>
      </p:sp>
      <p:sp>
        <p:nvSpPr>
          <p:cNvPr id="3" name="Rectángulo 2">
            <a:extLst>
              <a:ext uri="{FF2B5EF4-FFF2-40B4-BE49-F238E27FC236}">
                <a16:creationId xmlns:a16="http://schemas.microsoft.com/office/drawing/2014/main" id="{E54DA3AC-DFE0-BB51-7C71-7CD9087359D0}"/>
              </a:ext>
            </a:extLst>
          </p:cNvPr>
          <p:cNvSpPr/>
          <p:nvPr/>
        </p:nvSpPr>
        <p:spPr>
          <a:xfrm>
            <a:off x="10591800" y="1418373"/>
            <a:ext cx="1218760" cy="2010627"/>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486653" y="1418373"/>
            <a:ext cx="4886664"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BD35A6E-6540-9761-4128-0E43122290D4}"/>
              </a:ext>
            </a:extLst>
          </p:cNvPr>
          <p:cNvSpPr txBox="1"/>
          <p:nvPr/>
        </p:nvSpPr>
        <p:spPr>
          <a:xfrm>
            <a:off x="6814842" y="2201443"/>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13" name="Rectángulo 12">
            <a:extLst>
              <a:ext uri="{FF2B5EF4-FFF2-40B4-BE49-F238E27FC236}">
                <a16:creationId xmlns:a16="http://schemas.microsoft.com/office/drawing/2014/main" id="{03798D61-1E16-8473-BDCE-1D97F95EF7BE}"/>
              </a:ext>
            </a:extLst>
          </p:cNvPr>
          <p:cNvSpPr/>
          <p:nvPr/>
        </p:nvSpPr>
        <p:spPr>
          <a:xfrm>
            <a:off x="5478874" y="1418373"/>
            <a:ext cx="500736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B49B3613-E785-3FCB-DA8D-2B43EB104C5D}"/>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4" name="Imagen 3">
            <a:extLst>
              <a:ext uri="{FF2B5EF4-FFF2-40B4-BE49-F238E27FC236}">
                <a16:creationId xmlns:a16="http://schemas.microsoft.com/office/drawing/2014/main" id="{9195544B-4E68-E5B9-BE06-3D101AB960B2}"/>
              </a:ext>
            </a:extLst>
          </p:cNvPr>
          <p:cNvPicPr>
            <a:picLocks noChangeAspect="1"/>
          </p:cNvPicPr>
          <p:nvPr/>
        </p:nvPicPr>
        <p:blipFill>
          <a:blip r:embed="rId3"/>
          <a:stretch>
            <a:fillRect/>
          </a:stretch>
        </p:blipFill>
        <p:spPr>
          <a:xfrm>
            <a:off x="509891" y="1473992"/>
            <a:ext cx="4789906" cy="3174810"/>
          </a:xfrm>
          <a:prstGeom prst="rect">
            <a:avLst/>
          </a:prstGeom>
        </p:spPr>
      </p:pic>
      <p:pic>
        <p:nvPicPr>
          <p:cNvPr id="9" name="Imagen 8">
            <a:extLst>
              <a:ext uri="{FF2B5EF4-FFF2-40B4-BE49-F238E27FC236}">
                <a16:creationId xmlns:a16="http://schemas.microsoft.com/office/drawing/2014/main" id="{B4DCE8A9-B4EA-9EE5-7542-9F97704B2FB2}"/>
              </a:ext>
            </a:extLst>
          </p:cNvPr>
          <p:cNvPicPr>
            <a:picLocks noChangeAspect="1"/>
          </p:cNvPicPr>
          <p:nvPr/>
        </p:nvPicPr>
        <p:blipFill>
          <a:blip r:embed="rId4"/>
          <a:stretch>
            <a:fillRect/>
          </a:stretch>
        </p:blipFill>
        <p:spPr>
          <a:xfrm>
            <a:off x="5513885" y="1493814"/>
            <a:ext cx="4849315" cy="3154988"/>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6AF5A-1320-7A4D-2584-17E4EBBC5591}"/>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3E774D47-E776-E7BD-4A66-FF1A047439BE}"/>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035A0C34-F94A-FC41-900E-89B90C5FE5C9}"/>
              </a:ext>
            </a:extLst>
          </p:cNvPr>
          <p:cNvSpPr>
            <a:spLocks noGrp="1"/>
          </p:cNvSpPr>
          <p:nvPr>
            <p:ph type="sldNum" sz="quarter" idx="7"/>
          </p:nvPr>
        </p:nvSpPr>
        <p:spPr/>
        <p:txBody>
          <a:bodyPr/>
          <a:lstStyle/>
          <a:p>
            <a:fld id="{C2F52289-4012-4053-9770-FE82CEB9514F}" type="slidenum">
              <a:rPr lang="en-US" smtClean="0"/>
              <a:pPr/>
              <a:t>14</a:t>
            </a:fld>
            <a:endParaRPr lang="en-US" dirty="0"/>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F3FE1748-030A-4078-D5C7-82D49D6C6C97}"/>
                  </a:ext>
                </a:extLst>
              </p:cNvPr>
              <p:cNvSpPr txBox="1"/>
              <p:nvPr/>
            </p:nvSpPr>
            <p:spPr>
              <a:xfrm>
                <a:off x="583240" y="1371600"/>
                <a:ext cx="11199530" cy="3646639"/>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Comment results: describer the transfer function. How’s the dependence on the coupler coefficient? Calculate the Extinction Ratio. How would you achieve critical coupling for the latter design? Justify your answers.</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este ejercicio se ha diseñado el perímetro del anillo para obtener un FSR de 15 nm. En la gráfica se ve que las resonancias aparecen separadas aproximadamente esa distancia, así que el perímetro calculado </a:t>
                </a:r>
                <a14:m>
                  <m:oMath xmlns:m="http://schemas.openxmlformats.org/officeDocument/2006/math">
                    <m:sSub>
                      <m:sSubPr>
                        <m:ctrlPr>
                          <a:rPr lang="ar-AE" sz="1200"/>
                        </m:ctrlPr>
                      </m:sSubPr>
                      <m:e>
                        <m:r>
                          <m:rPr>
                            <m:sty m:val="p"/>
                          </m:rPr>
                          <a:rPr lang="ar-AE" sz="1200" b="0" i="0"/>
                          <m:t>L</m:t>
                        </m:r>
                      </m:e>
                      <m:sub>
                        <m:r>
                          <m:rPr>
                            <m:sty m:val="p"/>
                          </m:rPr>
                          <a:rPr lang="ar-AE" sz="1200" b="0" i="0"/>
                          <m:t>r</m:t>
                        </m:r>
                      </m:sub>
                    </m:sSub>
                    <m:r>
                      <a:rPr lang="ar-AE" sz="1200" b="0" i="0"/>
                      <m:t>≈</m:t>
                    </m:r>
                    <m:r>
                      <a:rPr lang="ar-AE" sz="1200" b="0" i="0"/>
                      <m:t>80</m:t>
                    </m:r>
                    <m:r>
                      <a:rPr lang="ar-AE" sz="1200" b="0" i="0"/>
                      <m:t>.</m:t>
                    </m:r>
                    <m:r>
                      <a:rPr lang="ar-AE" sz="1200" b="0" i="0"/>
                      <m:t>08</m:t>
                    </m:r>
                    <m:r>
                      <m:rPr>
                        <m:nor/>
                      </m:rPr>
                      <a:rPr lang="ar-AE" sz="1200">
                        <a:latin typeface="Arial" panose="020B0604020202020204" pitchFamily="34" charset="0"/>
                        <a:cs typeface="Arial" panose="020B0604020202020204" pitchFamily="34" charset="0"/>
                      </a:rPr>
                      <m:t> </m:t>
                    </m:r>
                    <m:r>
                      <m:rPr>
                        <m:sty m:val="p"/>
                      </m:rPr>
                      <a:rPr lang="ar-AE" sz="1200" b="0" i="0"/>
                      <m:t>μm</m:t>
                    </m:r>
                  </m:oMath>
                </a14:m>
                <a:r>
                  <a:rPr lang="es-ES" sz="1200" dirty="0">
                    <a:latin typeface="Arial" panose="020B0604020202020204" pitchFamily="34" charset="0"/>
                    <a:cs typeface="Arial" panose="020B0604020202020204" pitchFamily="34" charset="0"/>
                  </a:rPr>
                  <a:t> cumple el diseño.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Por un lado, la función de transferencia muestra caídas de transmisión en las longitudes de onda resonantes porque, en esos puntos, la luz se acopla al anillo y recircula dentro de él, reduciendo la potencia que sigue por la guía principal.</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Por otro lado, el valor del acoplador afecta a la profundidad de las resonancias: si se acopla poca potencia al anillo, los mínimos son poco profundos; si se acopla más, las caídas aumentan. En esta simulación los mínimos bajan aproximadamente hasta 0.1 en escala lineal, mientras que los máximos están cerca de 1, por lo que:</a:t>
                </a:r>
              </a:p>
              <a:p>
                <a:pPr algn="just"/>
                <a14:m>
                  <m:oMathPara xmlns:m="http://schemas.openxmlformats.org/officeDocument/2006/math">
                    <m:oMathParaPr>
                      <m:jc m:val="centerGroup"/>
                    </m:oMathParaPr>
                    <m:oMath xmlns:m="http://schemas.openxmlformats.org/officeDocument/2006/math">
                      <m:r>
                        <m:rPr>
                          <m:sty m:val="p"/>
                        </m:rPr>
                        <a:rPr lang="es-ES" sz="1200" b="0" i="0"/>
                        <m:t>ER</m:t>
                      </m:r>
                      <m:r>
                        <a:rPr lang="es-ES" sz="1200" b="0" i="0"/>
                        <m:t>≈</m:t>
                      </m:r>
                      <m:r>
                        <a:rPr lang="es-ES" sz="1200" b="0" i="0"/>
                        <m:t>10</m:t>
                      </m:r>
                      <m:sSub>
                        <m:sSubPr>
                          <m:ctrlPr>
                            <a:rPr lang="ar-AE" sz="1200"/>
                          </m:ctrlPr>
                        </m:sSubPr>
                        <m:e>
                          <m:func>
                            <m:funcPr>
                              <m:ctrlPr>
                                <a:rPr lang="ar-AE" sz="1200"/>
                              </m:ctrlPr>
                            </m:funcPr>
                            <m:fName>
                              <m:r>
                                <m:rPr>
                                  <m:sty m:val="p"/>
                                </m:rPr>
                                <a:rPr lang="es-ES" sz="1200" b="0" i="0"/>
                                <m:t>log</m:t>
                              </m:r>
                            </m:fName>
                            <m:e>
                              <m:r>
                                <a:rPr lang="es-ES" sz="1200" b="0" i="0" smtClean="0">
                                  <a:latin typeface="Cambria Math" panose="02040503050406030204" pitchFamily="18" charset="0"/>
                                </a:rPr>
                                <m:t> </m:t>
                              </m:r>
                            </m:e>
                          </m:func>
                        </m:e>
                        <m:sub>
                          <m:r>
                            <a:rPr lang="ar-AE" sz="1200" b="0" i="0"/>
                            <m:t>10</m:t>
                          </m:r>
                        </m:sub>
                      </m:sSub>
                      <m:d>
                        <m:dPr>
                          <m:ctrlPr>
                            <a:rPr lang="ar-AE" sz="1200"/>
                          </m:ctrlPr>
                        </m:dPr>
                        <m:e>
                          <m:f>
                            <m:fPr>
                              <m:ctrlPr>
                                <a:rPr lang="ar-AE" sz="1200"/>
                              </m:ctrlPr>
                            </m:fPr>
                            <m:num>
                              <m:r>
                                <m:rPr>
                                  <m:sty m:val="p"/>
                                </m:rPr>
                                <a:rPr lang="es-ES" sz="1200" b="0" i="0" smtClean="0">
                                  <a:latin typeface="Cambria Math" panose="02040503050406030204" pitchFamily="18" charset="0"/>
                                </a:rPr>
                                <m:t>Pm</m:t>
                              </m:r>
                              <m:r>
                                <a:rPr lang="es-ES" sz="1200" b="0" i="0" smtClean="0">
                                  <a:latin typeface="Cambria Math" panose="02040503050406030204" pitchFamily="18" charset="0"/>
                                </a:rPr>
                                <m:t>á</m:t>
                              </m:r>
                              <m:r>
                                <m:rPr>
                                  <m:sty m:val="p"/>
                                </m:rPr>
                                <a:rPr lang="es-ES" sz="1200" b="0" i="0" smtClean="0">
                                  <a:latin typeface="Cambria Math" panose="02040503050406030204" pitchFamily="18" charset="0"/>
                                </a:rPr>
                                <m:t>x</m:t>
                              </m:r>
                            </m:num>
                            <m:den>
                              <m:r>
                                <m:rPr>
                                  <m:sty m:val="p"/>
                                </m:rPr>
                                <a:rPr lang="es-ES" sz="1200" b="0" i="0" smtClean="0">
                                  <a:latin typeface="Cambria Math" panose="02040503050406030204" pitchFamily="18" charset="0"/>
                                </a:rPr>
                                <m:t>Pm</m:t>
                              </m:r>
                              <m:r>
                                <a:rPr lang="es-ES" sz="1200" b="0" i="0" smtClean="0">
                                  <a:latin typeface="Cambria Math" panose="02040503050406030204" pitchFamily="18" charset="0"/>
                                </a:rPr>
                                <m:t>í</m:t>
                              </m:r>
                              <m:r>
                                <m:rPr>
                                  <m:sty m:val="p"/>
                                </m:rPr>
                                <a:rPr lang="es-ES" sz="1200" b="0" i="0" smtClean="0">
                                  <a:latin typeface="Cambria Math" panose="02040503050406030204" pitchFamily="18" charset="0"/>
                                </a:rPr>
                                <m:t>n</m:t>
                              </m:r>
                            </m:den>
                          </m:f>
                        </m:e>
                      </m:d>
                      <m:r>
                        <a:rPr lang="es-ES" sz="1200" b="0" i="0" smtClean="0">
                          <a:latin typeface="Cambria Math" panose="02040503050406030204" pitchFamily="18" charset="0"/>
                        </a:rPr>
                        <m:t>=</m:t>
                      </m:r>
                      <m:r>
                        <a:rPr lang="es-ES" sz="1200" b="0" i="0">
                          <a:latin typeface="Cambria Math" panose="02040503050406030204" pitchFamily="18" charset="0"/>
                        </a:rPr>
                        <m:t>10</m:t>
                      </m:r>
                      <m:sSub>
                        <m:sSubPr>
                          <m:ctrlPr>
                            <a:rPr lang="ar-AE" sz="1200">
                              <a:latin typeface="Cambria Math" panose="02040503050406030204" pitchFamily="18" charset="0"/>
                            </a:rPr>
                          </m:ctrlPr>
                        </m:sSubPr>
                        <m:e>
                          <m:func>
                            <m:funcPr>
                              <m:ctrlPr>
                                <a:rPr lang="ar-AE" sz="1200">
                                  <a:latin typeface="Cambria Math" panose="02040503050406030204" pitchFamily="18" charset="0"/>
                                </a:rPr>
                              </m:ctrlPr>
                            </m:funcPr>
                            <m:fName>
                              <m:r>
                                <m:rPr>
                                  <m:sty m:val="p"/>
                                </m:rPr>
                                <a:rPr lang="es-ES" sz="1200" b="0" i="0">
                                  <a:latin typeface="Cambria Math" panose="02040503050406030204" pitchFamily="18" charset="0"/>
                                </a:rPr>
                                <m:t>log</m:t>
                              </m:r>
                            </m:fName>
                            <m:e>
                              <m:r>
                                <a:rPr lang="es-ES" sz="1200" b="0" i="0">
                                  <a:latin typeface="Cambria Math" panose="02040503050406030204" pitchFamily="18" charset="0"/>
                                </a:rPr>
                                <m:t> </m:t>
                              </m:r>
                            </m:e>
                          </m:func>
                        </m:e>
                        <m:sub>
                          <m:r>
                            <a:rPr lang="ar-AE" sz="1200" b="0" i="0">
                              <a:latin typeface="Cambria Math" panose="02040503050406030204" pitchFamily="18" charset="0"/>
                            </a:rPr>
                            <m:t>10</m:t>
                          </m:r>
                        </m:sub>
                      </m:sSub>
                      <m:d>
                        <m:dPr>
                          <m:ctrlPr>
                            <a:rPr lang="ar-AE" sz="1200">
                              <a:latin typeface="Cambria Math" panose="02040503050406030204" pitchFamily="18" charset="0"/>
                            </a:rPr>
                          </m:ctrlPr>
                        </m:dPr>
                        <m:e>
                          <m:f>
                            <m:fPr>
                              <m:ctrlPr>
                                <a:rPr lang="ar-AE" sz="1200">
                                  <a:latin typeface="Cambria Math" panose="02040503050406030204" pitchFamily="18" charset="0"/>
                                </a:rPr>
                              </m:ctrlPr>
                            </m:fPr>
                            <m:num>
                              <m:r>
                                <a:rPr lang="es-ES" sz="1200" b="0" i="0" smtClean="0">
                                  <a:latin typeface="Cambria Math" panose="02040503050406030204" pitchFamily="18" charset="0"/>
                                </a:rPr>
                                <m:t>1</m:t>
                              </m:r>
                            </m:num>
                            <m:den>
                              <m:r>
                                <a:rPr lang="es-ES" sz="1200" b="0" i="0" smtClean="0">
                                  <a:latin typeface="Cambria Math" panose="02040503050406030204" pitchFamily="18" charset="0"/>
                                </a:rPr>
                                <m:t>0</m:t>
                              </m:r>
                              <m:r>
                                <a:rPr lang="es-ES" sz="1200" b="0" i="0" smtClean="0">
                                  <a:latin typeface="Cambria Math" panose="02040503050406030204" pitchFamily="18" charset="0"/>
                                </a:rPr>
                                <m:t>.</m:t>
                              </m:r>
                              <m:r>
                                <a:rPr lang="es-ES" sz="1200" b="0" i="0" smtClean="0">
                                  <a:latin typeface="Cambria Math" panose="02040503050406030204" pitchFamily="18" charset="0"/>
                                </a:rPr>
                                <m:t>1</m:t>
                              </m:r>
                            </m:den>
                          </m:f>
                        </m:e>
                      </m:d>
                      <m:r>
                        <a:rPr lang="ar-AE" sz="1200" b="0" i="0"/>
                        <m:t>≈</m:t>
                      </m:r>
                      <m:r>
                        <a:rPr lang="ar-AE" sz="1200" b="0" i="0"/>
                        <m:t>10</m:t>
                      </m:r>
                      <m:r>
                        <m:rPr>
                          <m:nor/>
                        </m:rPr>
                        <a:rPr lang="ar-AE" sz="1200">
                          <a:latin typeface="Arial" panose="020B0604020202020204" pitchFamily="34" charset="0"/>
                          <a:cs typeface="Arial" panose="020B0604020202020204" pitchFamily="34" charset="0"/>
                        </a:rPr>
                        <m:t> </m:t>
                      </m:r>
                      <m:r>
                        <m:rPr>
                          <m:sty m:val="p"/>
                        </m:rPr>
                        <a:rPr lang="ar-AE" sz="1200" b="0" i="0"/>
                        <m:t>dB</m:t>
                      </m:r>
                    </m:oMath>
                  </m:oMathPara>
                </a14:m>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conseguir </a:t>
                </a:r>
                <a:r>
                  <a:rPr lang="es-ES" sz="1200" dirty="0" err="1">
                    <a:latin typeface="Arial" panose="020B0604020202020204" pitchFamily="34" charset="0"/>
                    <a:cs typeface="Arial" panose="020B0604020202020204" pitchFamily="34" charset="0"/>
                  </a:rPr>
                  <a:t>critical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coupling</a:t>
                </a:r>
                <a:r>
                  <a:rPr lang="es-ES" sz="1200" dirty="0">
                    <a:latin typeface="Arial" panose="020B0604020202020204" pitchFamily="34" charset="0"/>
                    <a:cs typeface="Arial" panose="020B0604020202020204" pitchFamily="34" charset="0"/>
                  </a:rPr>
                  <a:t>, habría que ajustar el coeficiente de acoplo para que la potencia que entra al anillo compense exactamente las pérdidas internas de una vuelta. En ese caso, la interferencia en la salida sería máxima y el mínimo de transmisión sería mucho más profundo.</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mc:Choice>
        <mc:Fallback>
          <p:sp>
            <p:nvSpPr>
              <p:cNvPr id="8" name="CuadroTexto 7">
                <a:extLst>
                  <a:ext uri="{FF2B5EF4-FFF2-40B4-BE49-F238E27FC236}">
                    <a16:creationId xmlns:a16="http://schemas.microsoft.com/office/drawing/2014/main" id="{F3FE1748-030A-4078-D5C7-82D49D6C6C97}"/>
                  </a:ext>
                </a:extLst>
              </p:cNvPr>
              <p:cNvSpPr txBox="1">
                <a:spLocks noRot="1" noChangeAspect="1" noMove="1" noResize="1" noEditPoints="1" noAdjustHandles="1" noChangeArrowheads="1" noChangeShapeType="1" noTextEdit="1"/>
              </p:cNvSpPr>
              <p:nvPr/>
            </p:nvSpPr>
            <p:spPr>
              <a:xfrm>
                <a:off x="583240" y="1371600"/>
                <a:ext cx="11199530" cy="3646639"/>
              </a:xfrm>
              <a:prstGeom prst="rect">
                <a:avLst/>
              </a:prstGeom>
              <a:blipFill>
                <a:blip r:embed="rId2"/>
                <a:stretch>
                  <a:fillRect/>
                </a:stretch>
              </a:blipFill>
              <a:ln w="28575">
                <a:solidFill>
                  <a:srgbClr val="E0700D"/>
                </a:solidFill>
              </a:ln>
            </p:spPr>
            <p:txBody>
              <a:bodyPr/>
              <a:lstStyle/>
              <a:p>
                <a:r>
                  <a:rPr lang="es-ES">
                    <a:noFill/>
                  </a:rPr>
                  <a:t> </a:t>
                </a:r>
              </a:p>
            </p:txBody>
          </p:sp>
        </mc:Fallback>
      </mc:AlternateContent>
      <p:pic>
        <p:nvPicPr>
          <p:cNvPr id="11" name="Gráfico 10">
            <a:extLst>
              <a:ext uri="{FF2B5EF4-FFF2-40B4-BE49-F238E27FC236}">
                <a16:creationId xmlns:a16="http://schemas.microsoft.com/office/drawing/2014/main" id="{8E12FA02-8FC4-CD9A-EAD9-55E9FC0F84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F0F15311-6717-1566-EF85-EC6FCDBE284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spTree>
    <p:extLst>
      <p:ext uri="{BB962C8B-B14F-4D97-AF65-F5344CB8AC3E}">
        <p14:creationId xmlns:p14="http://schemas.microsoft.com/office/powerpoint/2010/main" val="2391493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dirty="0"/>
              <a:t>…</a:t>
            </a:r>
            <a:endParaRPr lang="en-US" sz="2000" dirty="0"/>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spTree>
    <p:extLst>
      <p:ext uri="{BB962C8B-B14F-4D97-AF65-F5344CB8AC3E}">
        <p14:creationId xmlns:p14="http://schemas.microsoft.com/office/powerpoint/2010/main" val="1931625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16</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=0 dB/cm</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=1 dB/cm</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sp>
        <p:nvSpPr>
          <p:cNvPr id="12" name="Rectángulo 11">
            <a:extLst>
              <a:ext uri="{FF2B5EF4-FFF2-40B4-BE49-F238E27FC236}">
                <a16:creationId xmlns:a16="http://schemas.microsoft.com/office/drawing/2014/main" id="{D9D5941A-D9F5-22E7-7E85-0D04C2B214EC}"/>
              </a:ext>
            </a:extLst>
          </p:cNvPr>
          <p:cNvSpPr/>
          <p:nvPr/>
        </p:nvSpPr>
        <p:spPr>
          <a:xfrm>
            <a:off x="8609885"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4A6C8490-F65B-32C9-44E8-9A1A1A1B1769}"/>
              </a:ext>
            </a:extLst>
          </p:cNvPr>
          <p:cNvSpPr txBox="1"/>
          <p:nvPr/>
        </p:nvSpPr>
        <p:spPr>
          <a:xfrm>
            <a:off x="8861472"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spTree>
    <p:extLst>
      <p:ext uri="{BB962C8B-B14F-4D97-AF65-F5344CB8AC3E}">
        <p14:creationId xmlns:p14="http://schemas.microsoft.com/office/powerpoint/2010/main" val="1461196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1511</TotalTime>
  <Words>2257</Words>
  <Application>Microsoft Office PowerPoint</Application>
  <PresentationFormat>Panorámica</PresentationFormat>
  <Paragraphs>264</Paragraphs>
  <Slides>17</Slides>
  <Notes>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17</vt:i4>
      </vt:variant>
    </vt:vector>
  </HeadingPairs>
  <TitlesOfParts>
    <vt:vector size="24" baseType="lpstr">
      <vt:lpstr>Aptos</vt:lpstr>
      <vt:lpstr>Arial</vt:lpstr>
      <vt:lpstr>Calibri</vt:lpstr>
      <vt:lpstr>Cambria Math</vt:lpstr>
      <vt:lpstr>Lucida Sans</vt:lpstr>
      <vt:lpstr>Wingdings</vt:lpstr>
      <vt:lpstr>Office Theme</vt:lpstr>
      <vt:lpstr>Presentación de PowerPoint</vt:lpstr>
      <vt:lpstr>Instructions General</vt:lpstr>
      <vt:lpstr>Learning outcome #1a – Perfectly balanced MZI </vt:lpstr>
      <vt:lpstr>Learning outcome #1a – Perfectly balanced MZI </vt:lpstr>
      <vt:lpstr>Learning outcome #1b – Unbalanced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Lidia Tortola Juan</cp:lastModifiedBy>
  <cp:revision>38</cp:revision>
  <dcterms:created xsi:type="dcterms:W3CDTF">2025-01-27T02:46:57Z</dcterms:created>
  <dcterms:modified xsi:type="dcterms:W3CDTF">2026-05-23T11:46:30Z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