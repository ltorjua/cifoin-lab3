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9"/>
  </p:notesMasterIdLst>
  <p:handoutMasterIdLst>
    <p:handoutMasterId r:id="rId20"/>
  </p:handoutMasterIdLst>
  <p:sldIdLst>
    <p:sldId id="256" r:id="rId2"/>
    <p:sldId id="289" r:id="rId3"/>
    <p:sldId id="290" r:id="rId4"/>
    <p:sldId id="389" r:id="rId5"/>
    <p:sldId id="296" r:id="rId6"/>
    <p:sldId id="390" r:id="rId7"/>
    <p:sldId id="375" r:id="rId8"/>
    <p:sldId id="391" r:id="rId9"/>
    <p:sldId id="376" r:id="rId10"/>
    <p:sldId id="392" r:id="rId11"/>
    <p:sldId id="377" r:id="rId12"/>
    <p:sldId id="393" r:id="rId13"/>
    <p:sldId id="388" r:id="rId14"/>
    <p:sldId id="394" r:id="rId15"/>
    <p:sldId id="380" r:id="rId16"/>
    <p:sldId id="381" r:id="rId17"/>
    <p:sldId id="288" r:id="rId18"/>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2" d="100"/>
          <a:sy n="82" d="100"/>
        </p:scale>
        <p:origin x="1152"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25/05/2026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25/05/2026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3D448-D394-063F-E8BA-2DF7EDECCDE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103E34A-1EE6-E282-37BE-09747C55BB6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71FAA56-66E8-69EA-CDF4-E5EFB34B83C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804EFCF-29D4-424F-5F45-76C1AD5BBA06}"/>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5590709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DCA2C-DC1C-94AC-4B44-E792E810571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3DDFC22-9D5D-07E4-D6DC-4D9F86CC1C7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DFDA27A-7867-5B97-DBC7-5AFE21A3C8C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3521375-3405-AFF1-9827-86123C005F32}"/>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35748841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2352A-955D-F65A-00AA-43A1FD1DF2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BE56839-EB32-FD47-E0CD-92735748F63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7C7C5D7-C045-41B6-6959-6B6B75F6758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2AD983-81BD-6B28-7095-460115EF788D}"/>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9353819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3.0. CIRCUITS &amp; COMPACT MODELS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exto simple">
    <p:spTree>
      <p:nvGrpSpPr>
        <p:cNvPr id="1" name=""/>
        <p:cNvGrpSpPr/>
        <p:nvPr/>
      </p:nvGrpSpPr>
      <p:grpSpPr>
        <a:xfrm>
          <a:off x="0" y="0"/>
          <a:ext cx="0" cy="0"/>
          <a:chOff x="0" y="0"/>
          <a:chExt cx="0" cy="0"/>
        </a:xfrm>
      </p:grpSpPr>
      <p:sp>
        <p:nvSpPr>
          <p:cNvPr id="6" name="Rectangle 47"/>
          <p:cNvSpPr/>
          <p:nvPr userDrawn="1"/>
        </p:nvSpPr>
        <p:spPr>
          <a:xfrm>
            <a:off x="608171" y="381001"/>
            <a:ext cx="45731" cy="68349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Título 8"/>
          <p:cNvSpPr>
            <a:spLocks noGrp="1"/>
          </p:cNvSpPr>
          <p:nvPr>
            <p:ph type="title" hasCustomPrompt="1"/>
          </p:nvPr>
        </p:nvSpPr>
        <p:spPr>
          <a:xfrm>
            <a:off x="736652" y="381000"/>
            <a:ext cx="7778317" cy="313782"/>
          </a:xfrm>
        </p:spPr>
        <p:txBody>
          <a:bodyPr>
            <a:normAutofit/>
          </a:bodyPr>
          <a:lstStyle>
            <a:lvl1pPr algn="l">
              <a:defRPr sz="2800" b="1" i="0" baseline="0">
                <a:solidFill>
                  <a:schemeClr val="tx1">
                    <a:lumMod val="65000"/>
                    <a:lumOff val="35000"/>
                  </a:schemeClr>
                </a:solidFill>
                <a:latin typeface="Calibri" panose="020F0502020204030204" pitchFamily="34" charset="0"/>
                <a:ea typeface="Open Sans Extrabold" panose="020B0906030804020204" pitchFamily="34" charset="0"/>
                <a:cs typeface="Calibri" panose="020F0502020204030204" pitchFamily="34" charset="0"/>
              </a:defRPr>
            </a:lvl1pPr>
          </a:lstStyle>
          <a:p>
            <a:r>
              <a:rPr lang="es-ES" dirty="0"/>
              <a:t>TITULO</a:t>
            </a:r>
          </a:p>
        </p:txBody>
      </p:sp>
      <p:sp>
        <p:nvSpPr>
          <p:cNvPr id="13" name="Marcador de texto 12"/>
          <p:cNvSpPr>
            <a:spLocks noGrp="1"/>
          </p:cNvSpPr>
          <p:nvPr>
            <p:ph type="body" sz="quarter" idx="10" hasCustomPrompt="1"/>
          </p:nvPr>
        </p:nvSpPr>
        <p:spPr>
          <a:xfrm>
            <a:off x="608171" y="1295401"/>
            <a:ext cx="11051877" cy="4958137"/>
          </a:xfrm>
        </p:spPr>
        <p:txBody>
          <a:bodyPr>
            <a:normAutofit/>
          </a:bodyPr>
          <a:lstStyle>
            <a:lvl1pPr>
              <a:defRPr sz="2400" baseline="0">
                <a:latin typeface="Calibri" panose="020F0502020204030204" pitchFamily="34" charset="0"/>
                <a:ea typeface="Open Sans Light" panose="020B0306030504020204" pitchFamily="34" charset="0"/>
                <a:cs typeface="Calibri" panose="020F0502020204030204" pitchFamily="34" charset="0"/>
              </a:defRPr>
            </a:lvl1pPr>
            <a:lvl2pPr>
              <a:defRPr sz="1800">
                <a:latin typeface="Calibri" panose="020F0502020204030204" pitchFamily="34" charset="0"/>
                <a:ea typeface="Open Sans Light" panose="020B0306030504020204" pitchFamily="34" charset="0"/>
                <a:cs typeface="Calibri" panose="020F0502020204030204" pitchFamily="34" charset="0"/>
              </a:defRPr>
            </a:lvl2pPr>
            <a:lvl3pPr>
              <a:defRPr sz="1600">
                <a:latin typeface="Calibri" panose="020F0502020204030204" pitchFamily="34" charset="0"/>
                <a:ea typeface="Open Sans Light" panose="020B0306030504020204" pitchFamily="34" charset="0"/>
                <a:cs typeface="Calibri" panose="020F0502020204030204" pitchFamily="34" charset="0"/>
              </a:defRPr>
            </a:lvl3pPr>
            <a:lvl4pPr>
              <a:defRPr sz="1400">
                <a:latin typeface="Calibri" panose="020F0502020204030204" pitchFamily="34" charset="0"/>
                <a:ea typeface="Open Sans Light" panose="020B0306030504020204" pitchFamily="34" charset="0"/>
                <a:cs typeface="Calibri" panose="020F0502020204030204" pitchFamily="34" charset="0"/>
              </a:defRPr>
            </a:lvl4pPr>
            <a:lvl5pPr>
              <a:defRPr sz="1400">
                <a:latin typeface="Calibri" panose="020F0502020204030204" pitchFamily="34" charset="0"/>
                <a:ea typeface="Open Sans Light" panose="020B0306030504020204" pitchFamily="34" charset="0"/>
                <a:cs typeface="Calibri" panose="020F0502020204030204" pitchFamily="34" charset="0"/>
              </a:defRPr>
            </a:lvl5pPr>
          </a:lstStyle>
          <a:p>
            <a:pPr lvl="0"/>
            <a:r>
              <a:rPr lang="es-ES" dirty="0"/>
              <a:t>Texto del contenido</a:t>
            </a:r>
          </a:p>
          <a:p>
            <a:pPr lvl="1"/>
            <a:r>
              <a:rPr lang="es-ES" dirty="0"/>
              <a:t>Segundo nivel</a:t>
            </a:r>
          </a:p>
          <a:p>
            <a:pPr lvl="2"/>
            <a:r>
              <a:rPr lang="es-ES" dirty="0"/>
              <a:t>Tercer nivel</a:t>
            </a:r>
          </a:p>
          <a:p>
            <a:pPr lvl="3"/>
            <a:r>
              <a:rPr lang="es-ES" dirty="0"/>
              <a:t>Cuarto nivel</a:t>
            </a:r>
          </a:p>
          <a:p>
            <a:pPr lvl="4"/>
            <a:r>
              <a:rPr lang="es-ES" dirty="0"/>
              <a:t>Quinto nivel</a:t>
            </a:r>
          </a:p>
        </p:txBody>
      </p:sp>
      <p:sp>
        <p:nvSpPr>
          <p:cNvPr id="23" name="Marcador de texto 22"/>
          <p:cNvSpPr>
            <a:spLocks noGrp="1"/>
          </p:cNvSpPr>
          <p:nvPr>
            <p:ph type="body" sz="quarter" idx="11" hasCustomPrompt="1"/>
          </p:nvPr>
        </p:nvSpPr>
        <p:spPr>
          <a:xfrm>
            <a:off x="736652" y="730647"/>
            <a:ext cx="7778317" cy="381000"/>
          </a:xfrm>
        </p:spPr>
        <p:txBody>
          <a:bodyPr>
            <a:noAutofit/>
          </a:bodyPr>
          <a:lstStyle>
            <a:lvl1pPr marL="0" indent="0">
              <a:buNone/>
              <a:defRPr sz="2000">
                <a:latin typeface="Calibri" panose="020F0502020204030204" pitchFamily="34" charset="0"/>
                <a:ea typeface="Open Sans Light" panose="020B0306030504020204" pitchFamily="34" charset="0"/>
                <a:cs typeface="Calibri" panose="020F0502020204030204" pitchFamily="34" charset="0"/>
              </a:defRPr>
            </a:lvl1pPr>
          </a:lstStyle>
          <a:p>
            <a:pPr lvl="0"/>
            <a:r>
              <a:rPr lang="es-ES" dirty="0"/>
              <a:t>Subtítulo del artículo con una explicación corta a modo resumen</a:t>
            </a:r>
          </a:p>
        </p:txBody>
      </p:sp>
      <p:sp>
        <p:nvSpPr>
          <p:cNvPr id="11" name="Date Placeholder 3"/>
          <p:cNvSpPr>
            <a:spLocks noGrp="1"/>
          </p:cNvSpPr>
          <p:nvPr>
            <p:ph type="dt" sz="half" idx="2"/>
          </p:nvPr>
        </p:nvSpPr>
        <p:spPr>
          <a:xfrm>
            <a:off x="609600" y="6387407"/>
            <a:ext cx="1980287" cy="303019"/>
          </a:xfrm>
          <a:prstGeom prst="rect">
            <a:avLst/>
          </a:prstGeom>
        </p:spPr>
        <p:txBody>
          <a:bodyPr vert="horz" lIns="117208" tIns="58604" rIns="117208" bIns="58604" rtlCol="0" anchor="ctr"/>
          <a:lstStyle>
            <a:lvl1pPr algn="l">
              <a:defRPr sz="1200">
                <a:solidFill>
                  <a:schemeClr val="tx1">
                    <a:tint val="75000"/>
                  </a:schemeClr>
                </a:solidFill>
              </a:defRPr>
            </a:lvl1pPr>
          </a:lstStyle>
          <a:p>
            <a:endParaRPr lang="en-US" dirty="0"/>
          </a:p>
        </p:txBody>
      </p:sp>
      <p:sp>
        <p:nvSpPr>
          <p:cNvPr id="12" name="Footer Placeholder 4"/>
          <p:cNvSpPr>
            <a:spLocks noGrp="1"/>
          </p:cNvSpPr>
          <p:nvPr>
            <p:ph type="ftr" sz="quarter" idx="3"/>
          </p:nvPr>
        </p:nvSpPr>
        <p:spPr>
          <a:xfrm>
            <a:off x="2894768" y="6387407"/>
            <a:ext cx="6402465" cy="303019"/>
          </a:xfrm>
          <a:prstGeom prst="rect">
            <a:avLst/>
          </a:prstGeom>
        </p:spPr>
        <p:txBody>
          <a:bodyPr vert="horz" lIns="117208" tIns="58604" rIns="117208" bIns="58604" rtlCol="0" anchor="ctr"/>
          <a:lstStyle>
            <a:lvl1pPr algn="ctr">
              <a:defRPr sz="1200">
                <a:solidFill>
                  <a:schemeClr val="tx1">
                    <a:tint val="75000"/>
                  </a:schemeClr>
                </a:solidFill>
              </a:defRPr>
            </a:lvl1pPr>
          </a:lstStyle>
          <a:p>
            <a:r>
              <a:rPr lang="en-US"/>
              <a:t>LAB 3.0. CIRCUITS &amp; COMPACT MODELS</a:t>
            </a:r>
          </a:p>
        </p:txBody>
      </p:sp>
      <p:sp>
        <p:nvSpPr>
          <p:cNvPr id="14" name="Slide Number Placeholder 5"/>
          <p:cNvSpPr>
            <a:spLocks noGrp="1"/>
          </p:cNvSpPr>
          <p:nvPr>
            <p:ph type="sldNum" sz="quarter" idx="4"/>
          </p:nvPr>
        </p:nvSpPr>
        <p:spPr>
          <a:xfrm>
            <a:off x="11431389" y="6388096"/>
            <a:ext cx="760611" cy="303019"/>
          </a:xfrm>
          <a:prstGeom prst="rect">
            <a:avLst/>
          </a:prstGeom>
          <a:solidFill>
            <a:schemeClr val="bg2"/>
          </a:solidFill>
        </p:spPr>
        <p:txBody>
          <a:bodyPr vert="horz" lIns="117208" tIns="58604" rIns="117208" bIns="58604" rtlCol="0" anchor="ctr"/>
          <a:lstStyle>
            <a:lvl1pPr algn="r">
              <a:defRPr sz="1200">
                <a:solidFill>
                  <a:srgbClr val="FF6309"/>
                </a:solidFill>
              </a:defRPr>
            </a:lvl1pPr>
          </a:lstStyle>
          <a:p>
            <a:fld id="{C2F52289-4012-4053-9770-FE82CEB9514F}" type="slidenum">
              <a:rPr lang="en-US" smtClean="0"/>
              <a:pPr/>
              <a:t>‹Nº›</a:t>
            </a:fld>
            <a:endParaRPr lang="en-US" dirty="0"/>
          </a:p>
        </p:txBody>
      </p:sp>
    </p:spTree>
    <p:extLst>
      <p:ext uri="{BB962C8B-B14F-4D97-AF65-F5344CB8AC3E}">
        <p14:creationId xmlns:p14="http://schemas.microsoft.com/office/powerpoint/2010/main" val="3024640384"/>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8"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sv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3.sv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sv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sv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sv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92137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a:latin typeface="Lucida Sans"/>
                <a:cs typeface="Lucida Sans"/>
              </a:rPr>
              <a:t>Lab Book 3.0 Circuits and Compact </a:t>
            </a:r>
            <a:r>
              <a:rPr lang="es-ES" sz="3200" b="1" dirty="0" err="1">
                <a:latin typeface="Lucida Sans"/>
                <a:cs typeface="Lucida Sans"/>
              </a:rPr>
              <a:t>Models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b="1" i="1" spc="165" dirty="0" err="1">
                <a:latin typeface="Arial"/>
                <a:cs typeface="Arial"/>
              </a:rPr>
              <a:t>Students</a:t>
            </a:r>
            <a:r>
              <a:rPr lang="es-ES" b="1" i="1" spc="165" dirty="0">
                <a:latin typeface="Arial"/>
                <a:cs typeface="Arial"/>
              </a:rPr>
              <a:t>:</a:t>
            </a:r>
            <a:r>
              <a:rPr lang="es-ES" spc="165" dirty="0">
                <a:latin typeface="Arial"/>
                <a:cs typeface="Arial"/>
              </a:rPr>
              <a:t> Lidia Tórtola Juan y Raúl Salido Calatayud</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
        <p:nvSpPr>
          <p:cNvPr id="2" name="CuadroTexto 1">
            <a:extLst>
              <a:ext uri="{FF2B5EF4-FFF2-40B4-BE49-F238E27FC236}">
                <a16:creationId xmlns:a16="http://schemas.microsoft.com/office/drawing/2014/main" id="{97380A6D-AE0C-0F93-A308-6EF9EB603605}"/>
              </a:ext>
            </a:extLst>
          </p:cNvPr>
          <p:cNvSpPr txBox="1"/>
          <p:nvPr/>
        </p:nvSpPr>
        <p:spPr>
          <a:xfrm>
            <a:off x="2663890" y="5892089"/>
            <a:ext cx="8305800" cy="369332"/>
          </a:xfrm>
          <a:prstGeom prst="rect">
            <a:avLst/>
          </a:prstGeom>
          <a:noFill/>
        </p:spPr>
        <p:txBody>
          <a:bodyPr wrap="square">
            <a:spAutoFit/>
          </a:bodyPr>
          <a:lstStyle/>
          <a:p>
            <a:r>
              <a:rPr lang="es-ES" b="1" i="1" dirty="0">
                <a:latin typeface="Arial" panose="020B0604020202020204" pitchFamily="34" charset="0"/>
                <a:cs typeface="Arial" panose="020B0604020202020204" pitchFamily="34" charset="0"/>
              </a:rPr>
              <a:t>URL:</a:t>
            </a:r>
            <a:r>
              <a:rPr lang="es-ES" dirty="0">
                <a:latin typeface="Arial" panose="020B0604020202020204" pitchFamily="34" charset="0"/>
                <a:cs typeface="Arial" panose="020B0604020202020204" pitchFamily="34" charset="0"/>
              </a:rPr>
              <a:t> https://github.com/ltorjua/cifoin-lab3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3.0. CIRCUITS &amp; COMPACT MODELS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https://github.com/cccanvas-upv/cifoin-lab3.git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a:solidFill>
                  <a:sysClr val="windowText" lastClr="000000"/>
                </a:solidFill>
              </a:rPr>
              <a:t>CIRCUITS_&amp;_</a:t>
            </a:r>
            <a:r>
              <a:rPr lang="en-US" kern="0" dirty="0" err="1">
                <a:solidFill>
                  <a:sysClr val="windowText" lastClr="000000"/>
                </a:solidFill>
              </a:rPr>
              <a:t>COMPACT_MODELS.ipynb</a:t>
            </a:r>
            <a:r>
              <a:rPr lang="en-US" kern="0" dirty="0">
                <a:solidFill>
                  <a:sysClr val="windowText" lastClr="000000"/>
                </a:solidFill>
              </a:rPr>
              <a:t> </a:t>
            </a:r>
          </a:p>
          <a:p>
            <a:pPr algn="just"/>
            <a:endParaRPr lang="en-US" b="1" i="1" dirty="0"/>
          </a:p>
          <a:p>
            <a:pPr algn="just"/>
            <a:r>
              <a:rPr lang="en-US" b="1" i="1" dirty="0"/>
              <a:t>Devices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8077200" y="5582965"/>
            <a:ext cx="2176237" cy="369332"/>
          </a:xfrm>
          <a:prstGeom prst="rect">
            <a:avLst/>
          </a:prstGeom>
          <a:noFill/>
        </p:spPr>
        <p:txBody>
          <a:bodyPr wrap="none" rtlCol="0">
            <a:spAutoFit/>
          </a:bodyPr>
          <a:lstStyle/>
          <a:p>
            <a:pPr algn="r"/>
            <a:r>
              <a:rPr lang="en-US" b="1" dirty="0"/>
              <a:t>Ring Resonators (RR)</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039582" y="5579058"/>
            <a:ext cx="4176324" cy="369332"/>
          </a:xfrm>
          <a:prstGeom prst="rect">
            <a:avLst/>
          </a:prstGeom>
          <a:noFill/>
        </p:spPr>
        <p:txBody>
          <a:bodyPr wrap="square">
            <a:spAutoFit/>
          </a:bodyPr>
          <a:lstStyle/>
          <a:p>
            <a:pPr algn="ctr"/>
            <a:r>
              <a:rPr lang="en-US" b="1" dirty="0"/>
              <a:t>Mach-Zehnder Interferometer (MZI)</a:t>
            </a:r>
            <a:endParaRPr lang="en-US" dirty="0"/>
          </a:p>
        </p:txBody>
      </p:sp>
      <p:pic>
        <p:nvPicPr>
          <p:cNvPr id="6" name="Imagen 5" descr="Forma, Rectángulo&#10;&#10;El contenido generado por IA puede ser incorrecto.">
            <a:extLst>
              <a:ext uri="{FF2B5EF4-FFF2-40B4-BE49-F238E27FC236}">
                <a16:creationId xmlns:a16="http://schemas.microsoft.com/office/drawing/2014/main" id="{91C2AB39-AF40-7700-840D-38F2C1813CB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428" y="3996612"/>
            <a:ext cx="5240632" cy="1246789"/>
          </a:xfrm>
          <a:prstGeom prst="rect">
            <a:avLst/>
          </a:prstGeom>
        </p:spPr>
      </p:pic>
      <p:pic>
        <p:nvPicPr>
          <p:cNvPr id="14" name="Imagen 13" descr="Imagen que contiene Forma&#10;&#10;El contenido generado por IA puede ser incorrecto.">
            <a:extLst>
              <a:ext uri="{FF2B5EF4-FFF2-40B4-BE49-F238E27FC236}">
                <a16:creationId xmlns:a16="http://schemas.microsoft.com/office/drawing/2014/main" id="{43CD26B4-EB7C-61CA-1BCF-B2AD5F6ED004}"/>
              </a:ext>
            </a:extLst>
          </p:cNvPr>
          <p:cNvPicPr>
            <a:picLocks noChangeAspect="1"/>
          </p:cNvPicPr>
          <p:nvPr/>
        </p:nvPicPr>
        <p:blipFill>
          <a:blip r:embed="rId4" cstate="print">
            <a:extLst>
              <a:ext uri="{28A0092B-C50C-407E-A947-70E740481C1C}">
                <a14:useLocalDpi xmlns:a14="http://schemas.microsoft.com/office/drawing/2010/main" val="0"/>
              </a:ext>
            </a:extLst>
          </a:blip>
          <a:srcRect r="68044"/>
          <a:stretch>
            <a:fillRect/>
          </a:stretch>
        </p:blipFill>
        <p:spPr>
          <a:xfrm>
            <a:off x="6624590" y="3638327"/>
            <a:ext cx="2402774" cy="1900395"/>
          </a:xfrm>
          <a:prstGeom prst="rect">
            <a:avLst/>
          </a:prstGeom>
        </p:spPr>
      </p:pic>
      <p:pic>
        <p:nvPicPr>
          <p:cNvPr id="15" name="Imagen 14" descr="Imagen que contiene Forma&#10;&#10;El contenido generado por IA puede ser incorrecto.">
            <a:extLst>
              <a:ext uri="{FF2B5EF4-FFF2-40B4-BE49-F238E27FC236}">
                <a16:creationId xmlns:a16="http://schemas.microsoft.com/office/drawing/2014/main" id="{B296E22E-7EA4-0FD2-7B98-F6CB5BB97AB9}"/>
              </a:ext>
            </a:extLst>
          </p:cNvPr>
          <p:cNvPicPr>
            <a:picLocks noChangeAspect="1"/>
          </p:cNvPicPr>
          <p:nvPr/>
        </p:nvPicPr>
        <p:blipFill>
          <a:blip r:embed="rId4" cstate="print">
            <a:extLst>
              <a:ext uri="{28A0092B-C50C-407E-A947-70E740481C1C}">
                <a14:useLocalDpi xmlns:a14="http://schemas.microsoft.com/office/drawing/2010/main" val="0"/>
              </a:ext>
            </a:extLst>
          </a:blip>
          <a:srcRect l="67258" r="786"/>
          <a:stretch>
            <a:fillRect/>
          </a:stretch>
        </p:blipFill>
        <p:spPr>
          <a:xfrm>
            <a:off x="9354819" y="3650394"/>
            <a:ext cx="2402774" cy="1900395"/>
          </a:xfrm>
          <a:prstGeom prst="rect">
            <a:avLst/>
          </a:prstGeom>
        </p:spPr>
      </p:pic>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228A8A28-0D43-C564-7B6A-20F75755616A}"/>
              </a:ext>
            </a:extLst>
          </p:cNvPr>
          <p:cNvSpPr/>
          <p:nvPr/>
        </p:nvSpPr>
        <p:spPr>
          <a:xfrm>
            <a:off x="6476400" y="1418373"/>
            <a:ext cx="5332571"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endParaRPr lang="en-US" sz="1600" dirty="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dirty="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dirty="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dirty="0">
              <a:solidFill>
                <a:schemeClr val="tx1"/>
              </a:solidFill>
              <a:latin typeface="Arial" panose="020B0604020202020204" pitchFamily="34" charset="0"/>
              <a:cs typeface="Arial" panose="020B0604020202020204" pitchFamily="34" charset="0"/>
            </a:endParaRPr>
          </a:p>
          <a:p>
            <a:pPr algn="just"/>
            <a:endParaRPr lang="en-US" sz="1600" dirty="0">
              <a:solidFill>
                <a:schemeClr val="tx1"/>
              </a:solidFill>
              <a:latin typeface="Arial" panose="020B0604020202020204" pitchFamily="34" charset="0"/>
              <a:cs typeface="Arial" panose="020B0604020202020204" pitchFamily="34" charset="0"/>
            </a:endParaRPr>
          </a:p>
          <a:p>
            <a:pPr algn="just"/>
            <a:endParaRPr lang="en-US" sz="1600" dirty="0">
              <a:solidFill>
                <a:schemeClr val="tx1"/>
              </a:solidFill>
              <a:latin typeface="Arial" panose="020B0604020202020204" pitchFamily="34" charset="0"/>
              <a:cs typeface="Arial" panose="020B0604020202020204" pitchFamily="34" charset="0"/>
            </a:endParaRPr>
          </a:p>
        </p:txBody>
      </p:sp>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#1a – Perfectly balanced MZI</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3.0. CIRCUITS &amp; COMPACT MODELS</a:t>
            </a:r>
            <a:endParaRPr lang="es-ES" spc="-5" dirty="0"/>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629399" y="1556991"/>
            <a:ext cx="5050811" cy="2895600"/>
          </a:xfrm>
          <a:prstGeom prst="rect">
            <a:avLst/>
          </a:prstGeom>
        </p:spPr>
        <p:txBody>
          <a:bodyPr>
            <a:normAutofit lnSpcReduction="10000"/>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the Compact Models and Circuit Model</a:t>
            </a:r>
          </a:p>
          <a:p>
            <a:pPr marL="342900" indent="-342900" algn="just">
              <a:buFont typeface="Arial" panose="020B0604020202020204" pitchFamily="34" charset="0"/>
              <a:buChar char="•"/>
            </a:pPr>
            <a:r>
              <a:rPr lang="en-US" sz="2000" dirty="0"/>
              <a:t>Describe how to </a:t>
            </a:r>
            <a:r>
              <a:rPr lang="es-ES" sz="2000" dirty="0" err="1"/>
              <a:t>simulate</a:t>
            </a:r>
            <a:r>
              <a:rPr lang="es-ES" sz="2000" dirty="0"/>
              <a:t> </a:t>
            </a:r>
            <a:r>
              <a:rPr lang="es-ES" sz="2000" dirty="0" err="1"/>
              <a:t>usin</a:t>
            </a:r>
            <a:r>
              <a:rPr lang="es-ES" sz="2000" dirty="0"/>
              <a:t> SAX </a:t>
            </a:r>
            <a:r>
              <a:rPr lang="es-ES" sz="2000" dirty="0" err="1"/>
              <a:t>library</a:t>
            </a:r>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b="1" dirty="0"/>
              <a:t>ALL EXAMPLE #1: </a:t>
            </a:r>
          </a:p>
          <a:p>
            <a:pPr marL="0" indent="0" algn="just">
              <a:buNone/>
            </a:pPr>
            <a:r>
              <a:rPr lang="en-US" dirty="0" err="1"/>
              <a:t>wvl</a:t>
            </a:r>
            <a:r>
              <a:rPr lang="en-US" dirty="0"/>
              <a:t> [1500-1600] step 0.001</a:t>
            </a:r>
          </a:p>
          <a:p>
            <a:pPr marL="0" indent="0" algn="just">
              <a:buNone/>
            </a:pPr>
            <a:r>
              <a:rPr lang="en-US" dirty="0"/>
              <a:t>dL = 0</a:t>
            </a:r>
          </a:p>
          <a:p>
            <a:pPr marL="0" indent="0" algn="just">
              <a:buNone/>
            </a:pPr>
            <a:r>
              <a:rPr lang="en-US" dirty="0"/>
              <a:t>Kin = Kout = 0.5 for all </a:t>
            </a:r>
            <a:r>
              <a:rPr lang="en-US" dirty="0" err="1"/>
              <a:t>wvl</a:t>
            </a:r>
            <a:endParaRPr lang="en-US"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82AE4A84-532D-D50D-F368-79FF1C11E97A}"/>
              </a:ext>
            </a:extLst>
          </p:cNvPr>
          <p:cNvSpPr/>
          <p:nvPr/>
        </p:nvSpPr>
        <p:spPr>
          <a:xfrm>
            <a:off x="609441" y="1418372"/>
            <a:ext cx="5738198" cy="4601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024B9AF7-5B09-CE7C-68D9-8620B8F4F607}"/>
              </a:ext>
            </a:extLst>
          </p:cNvPr>
          <p:cNvSpPr txBox="1"/>
          <p:nvPr/>
        </p:nvSpPr>
        <p:spPr>
          <a:xfrm>
            <a:off x="1690195" y="2494306"/>
            <a:ext cx="3171061" cy="1154162"/>
          </a:xfrm>
          <a:prstGeom prst="rect">
            <a:avLst/>
          </a:prstGeom>
          <a:noFill/>
        </p:spPr>
        <p:txBody>
          <a:bodyPr wrap="none" rtlCol="0">
            <a:spAutoFit/>
          </a:bodyPr>
          <a:lstStyle/>
          <a:p>
            <a:pPr algn="ctr"/>
            <a:r>
              <a:rPr lang="es-ES" dirty="0"/>
              <a:t>MZI transfer </a:t>
            </a:r>
            <a:r>
              <a:rPr lang="es-ES" dirty="0" err="1"/>
              <a:t>functions</a:t>
            </a:r>
            <a:endParaRPr lang="en-US" dirty="0"/>
          </a:p>
          <a:p>
            <a:pPr algn="ctr"/>
            <a:endParaRPr lang="en-US" dirty="0"/>
          </a:p>
          <a:p>
            <a:pPr algn="ctr"/>
            <a:r>
              <a:rPr lang="en-US" dirty="0"/>
              <a:t>Paste plot here</a:t>
            </a:r>
          </a:p>
        </p:txBody>
      </p:sp>
      <p:pic>
        <p:nvPicPr>
          <p:cNvPr id="11" name="Imagen 10">
            <a:extLst>
              <a:ext uri="{FF2B5EF4-FFF2-40B4-BE49-F238E27FC236}">
                <a16:creationId xmlns:a16="http://schemas.microsoft.com/office/drawing/2014/main" id="{B9500CAA-1C11-9360-4C6B-3570E41353B0}"/>
              </a:ext>
            </a:extLst>
          </p:cNvPr>
          <p:cNvPicPr>
            <a:picLocks noChangeAspect="1"/>
          </p:cNvPicPr>
          <p:nvPr/>
        </p:nvPicPr>
        <p:blipFill>
          <a:blip r:embed="rId4"/>
          <a:stretch>
            <a:fillRect/>
          </a:stretch>
        </p:blipFill>
        <p:spPr>
          <a:xfrm>
            <a:off x="685799" y="1527405"/>
            <a:ext cx="5620707" cy="4339995"/>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DB66C-CBA1-1EC6-5A76-AEAF167E429E}"/>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09E6B24-C3A8-3EBB-81E3-4D5351884E65}"/>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#1a – Perfectly balanced MZI</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80C59B7-E94C-B8CF-28A6-42618C3E53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F247124-5FEE-2F59-32AF-3A90EE743DE3}"/>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B609055C-92A7-CF4F-61C0-75C107F9E0D1}"/>
              </a:ext>
            </a:extLst>
          </p:cNvPr>
          <p:cNvSpPr>
            <a:spLocks noGrp="1"/>
          </p:cNvSpPr>
          <p:nvPr>
            <p:ph type="ftr" sz="quarter" idx="5"/>
          </p:nvPr>
        </p:nvSpPr>
        <p:spPr/>
        <p:txBody>
          <a:bodyPr/>
          <a:lstStyle/>
          <a:p>
            <a:pPr marL="12700">
              <a:spcBef>
                <a:spcPts val="15"/>
              </a:spcBef>
            </a:pPr>
            <a:r>
              <a:rPr lang="es-ES" spc="-5"/>
              <a:t>LAB 3.0. CIRCUITS &amp; COMPACT MODELS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78AEDD6D-3CE0-FC30-53C6-D3B0B1183DD6}"/>
                  </a:ext>
                </a:extLst>
              </p:cNvPr>
              <p:cNvSpPr txBox="1"/>
              <p:nvPr/>
            </p:nvSpPr>
            <p:spPr>
              <a:xfrm>
                <a:off x="583019" y="1371600"/>
                <a:ext cx="11199971" cy="2127827"/>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b="1" i="1"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Document and comment your results</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primer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MZI est</a:t>
                </a:r>
                <a:r>
                  <a:rPr lang="es-ES" sz="1200" dirty="0">
                    <a:latin typeface="Arial" panose="020B0604020202020204" pitchFamily="34" charset="0"/>
                    <a:cs typeface="Arial" panose="020B0604020202020204" pitchFamily="34" charset="0"/>
                  </a:rPr>
                  <a:t>á perfectamente balanceado ya que los dos brazos tienen la misma longitud, es decir, </a:t>
                </a:r>
                <a14:m>
                  <m:oMath xmlns:m="http://schemas.openxmlformats.org/officeDocument/2006/math">
                    <m:r>
                      <a:rPr lang="es-ES" sz="1200" i="1">
                        <a:latin typeface="Cambria Math" panose="02040503050406030204" pitchFamily="18" charset="0"/>
                      </a:rPr>
                      <m:t>𝑑𝐿</m:t>
                    </m:r>
                    <m:r>
                      <a:rPr lang="es-ES" sz="1200">
                        <a:latin typeface="Cambria Math" panose="02040503050406030204" pitchFamily="18" charset="0"/>
                      </a:rPr>
                      <m:t>=</m:t>
                    </m:r>
                    <m:r>
                      <a:rPr lang="es-ES" sz="1200">
                        <a:latin typeface="Cambria Math" panose="02040503050406030204" pitchFamily="18" charset="0"/>
                      </a:rPr>
                      <m:t>0</m:t>
                    </m:r>
                  </m:oMath>
                </a14:m>
                <a:r>
                  <a:rPr lang="es-ES" sz="1200" dirty="0">
                    <a:latin typeface="Arial" panose="020B0604020202020204" pitchFamily="34" charset="0"/>
                    <a:cs typeface="Arial" panose="020B0604020202020204" pitchFamily="34" charset="0"/>
                  </a:rPr>
                  <a:t>. Es por ello que la diferencia de fase entre los dos caminos no cambia con la longitud de onda. Al usar acopladores 50/50, toda la potencia interfiere de forma constructiva en una salida y destructiva en la otra.</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Por tanto, en la gráfica se ve una salida prácticamente constante con transmisión </a:t>
                </a:r>
                <a14:m>
                  <m:oMath xmlns:m="http://schemas.openxmlformats.org/officeDocument/2006/math">
                    <m:r>
                      <a:rPr lang="es-ES" sz="1200">
                        <a:latin typeface="Cambria Math" panose="02040503050406030204" pitchFamily="18" charset="0"/>
                      </a:rPr>
                      <m:t>∣</m:t>
                    </m:r>
                    <m:r>
                      <a:rPr lang="es-ES" sz="1200" i="1">
                        <a:latin typeface="Cambria Math" panose="02040503050406030204" pitchFamily="18" charset="0"/>
                      </a:rPr>
                      <m:t>𝐻</m:t>
                    </m:r>
                    <m:sSup>
                      <m:sSupPr>
                        <m:ctrlPr>
                          <a:rPr lang="ar-AE" sz="1200" i="1">
                            <a:latin typeface="Cambria Math" panose="02040503050406030204" pitchFamily="18" charset="0"/>
                          </a:rPr>
                        </m:ctrlPr>
                      </m:sSupPr>
                      <m:e>
                        <m:r>
                          <a:rPr lang="ar-AE" sz="1200">
                            <a:latin typeface="Cambria Math" panose="02040503050406030204" pitchFamily="18" charset="0"/>
                          </a:rPr>
                          <m:t>∣</m:t>
                        </m:r>
                      </m:e>
                      <m:sup>
                        <m:r>
                          <a:rPr lang="ar-AE" sz="1200">
                            <a:latin typeface="Cambria Math" panose="02040503050406030204" pitchFamily="18" charset="0"/>
                          </a:rPr>
                          <m:t>2</m:t>
                        </m:r>
                      </m:sup>
                    </m:sSup>
                    <m:r>
                      <a:rPr lang="ar-AE" sz="1200">
                        <a:latin typeface="Cambria Math" panose="02040503050406030204" pitchFamily="18" charset="0"/>
                      </a:rPr>
                      <m:t>=</m:t>
                    </m:r>
                    <m:r>
                      <a:rPr lang="ar-AE" sz="1200">
                        <a:latin typeface="Cambria Math" panose="02040503050406030204" pitchFamily="18" charset="0"/>
                      </a:rPr>
                      <m:t>1</m:t>
                    </m:r>
                  </m:oMath>
                </a14:m>
                <a:r>
                  <a:rPr lang="ar-AE" sz="1200" dirty="0">
                    <a:latin typeface="Arial" panose="020B0604020202020204" pitchFamily="34" charset="0"/>
                    <a:cs typeface="Arial" panose="020B0604020202020204" pitchFamily="34" charset="0"/>
                  </a:rPr>
                  <a:t>, </a:t>
                </a:r>
                <a:r>
                  <a:rPr lang="es-ES" sz="1200" dirty="0">
                    <a:latin typeface="Arial" panose="020B0604020202020204" pitchFamily="34" charset="0"/>
                    <a:cs typeface="Arial" panose="020B0604020202020204" pitchFamily="34" charset="0"/>
                  </a:rPr>
                  <a:t>mientras que la otra queda casi anulada. En escala logarítmica, la salida apagada aparece alrededor de valores muy bajos porque no es exactamente cero por límites numéricos de la simulación. Como no hay diferencia de longitud entre brazos, tampoco aparecen oscilaciones ni FSR en el rango de 1500 a 1600 nm. </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78AEDD6D-3CE0-FC30-53C6-D3B0B1183DD6}"/>
                  </a:ext>
                </a:extLst>
              </p:cNvPr>
              <p:cNvSpPr txBox="1">
                <a:spLocks noRot="1" noChangeAspect="1" noMove="1" noResize="1" noEditPoints="1" noAdjustHandles="1" noChangeArrowheads="1" noChangeShapeType="1" noTextEdit="1"/>
              </p:cNvSpPr>
              <p:nvPr/>
            </p:nvSpPr>
            <p:spPr>
              <a:xfrm>
                <a:off x="583019" y="1371600"/>
                <a:ext cx="11199971" cy="212782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296200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5EA17-A19F-F6ED-E241-A2268CBA45D6}"/>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DA69D816-535A-F5EE-E106-BA148A1B2DF6}"/>
              </a:ext>
            </a:extLst>
          </p:cNvPr>
          <p:cNvSpPr/>
          <p:nvPr/>
        </p:nvSpPr>
        <p:spPr>
          <a:xfrm>
            <a:off x="9281160" y="1418373"/>
            <a:ext cx="2588771" cy="2010627"/>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endParaRPr lang="en-US" sz="1600" dirty="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dirty="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dirty="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dirty="0">
              <a:solidFill>
                <a:schemeClr val="tx1"/>
              </a:solidFill>
              <a:latin typeface="Arial" panose="020B0604020202020204" pitchFamily="34" charset="0"/>
              <a:cs typeface="Arial" panose="020B0604020202020204" pitchFamily="34" charset="0"/>
            </a:endParaRPr>
          </a:p>
          <a:p>
            <a:pPr algn="just"/>
            <a:endParaRPr lang="en-US" sz="1600" dirty="0">
              <a:solidFill>
                <a:schemeClr val="tx1"/>
              </a:solidFill>
              <a:latin typeface="Arial" panose="020B0604020202020204" pitchFamily="34" charset="0"/>
              <a:cs typeface="Arial" panose="020B0604020202020204" pitchFamily="34" charset="0"/>
            </a:endParaRPr>
          </a:p>
          <a:p>
            <a:pPr algn="just"/>
            <a:endParaRPr lang="en-US" sz="1600" dirty="0">
              <a:solidFill>
                <a:schemeClr val="tx1"/>
              </a:solidFill>
              <a:latin typeface="Arial" panose="020B0604020202020204" pitchFamily="34" charset="0"/>
              <a:cs typeface="Arial" panose="020B0604020202020204" pitchFamily="34" charset="0"/>
            </a:endParaRPr>
          </a:p>
        </p:txBody>
      </p:sp>
      <p:sp>
        <p:nvSpPr>
          <p:cNvPr id="16" name="object 16">
            <a:extLst>
              <a:ext uri="{FF2B5EF4-FFF2-40B4-BE49-F238E27FC236}">
                <a16:creationId xmlns:a16="http://schemas.microsoft.com/office/drawing/2014/main" id="{D79563BA-3258-C655-D121-E2E23B61FDB5}"/>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#1b – Unbalanced MZI</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8B251FE-4B29-D52F-1DB1-9E5BBD8CFF5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3FA43D9-CFE1-F872-DD44-E04BB1B18DFD}"/>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06710B9A-16F8-7A75-9BC8-FE3189874FB8}"/>
              </a:ext>
            </a:extLst>
          </p:cNvPr>
          <p:cNvSpPr>
            <a:spLocks noGrp="1"/>
          </p:cNvSpPr>
          <p:nvPr>
            <p:ph type="ftr" sz="quarter" idx="5"/>
          </p:nvPr>
        </p:nvSpPr>
        <p:spPr/>
        <p:txBody>
          <a:bodyPr/>
          <a:lstStyle/>
          <a:p>
            <a:pPr marL="12700">
              <a:spcBef>
                <a:spcPts val="15"/>
              </a:spcBef>
            </a:pPr>
            <a:r>
              <a:rPr lang="en-US" spc="-5"/>
              <a:t>LAB 3.0. CIRCUITS &amp; COMPACT MODELS</a:t>
            </a:r>
            <a:endParaRPr lang="es-ES" spc="-5" dirty="0"/>
          </a:p>
        </p:txBody>
      </p:sp>
      <p:sp>
        <p:nvSpPr>
          <p:cNvPr id="4" name="Marcador de texto 2">
            <a:extLst>
              <a:ext uri="{FF2B5EF4-FFF2-40B4-BE49-F238E27FC236}">
                <a16:creationId xmlns:a16="http://schemas.microsoft.com/office/drawing/2014/main" id="{0E86A2CB-D14B-54A7-9376-DAE1E4FF0284}"/>
              </a:ext>
            </a:extLst>
          </p:cNvPr>
          <p:cNvSpPr txBox="1">
            <a:spLocks/>
          </p:cNvSpPr>
          <p:nvPr/>
        </p:nvSpPr>
        <p:spPr>
          <a:xfrm>
            <a:off x="9311640" y="1556991"/>
            <a:ext cx="2368570" cy="1872009"/>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s-ES" b="1" dirty="0"/>
              <a:t>HINTS</a:t>
            </a:r>
            <a:r>
              <a:rPr lang="en-US" b="1" dirty="0"/>
              <a:t>: </a:t>
            </a:r>
          </a:p>
          <a:p>
            <a:pPr marL="0" indent="0" algn="just">
              <a:buNone/>
            </a:pPr>
            <a:r>
              <a:rPr lang="en-US" dirty="0" err="1"/>
              <a:t>wvl</a:t>
            </a:r>
            <a:r>
              <a:rPr lang="en-US" dirty="0"/>
              <a:t> [1500-1600] step 0.001</a:t>
            </a:r>
          </a:p>
          <a:p>
            <a:pPr algn="just"/>
            <a:r>
              <a:rPr lang="en-US" dirty="0"/>
              <a:t>dL = </a:t>
            </a:r>
            <a:r>
              <a:rPr lang="en-US" dirty="0">
                <a:latin typeface="Arial" panose="020B0604020202020204" pitchFamily="34" charset="0"/>
                <a:cs typeface="Arial" panose="020B0604020202020204" pitchFamily="34" charset="0"/>
                <a:sym typeface="Wingdings" pitchFamily="2" charset="2"/>
              </a:rPr>
              <a:t>100 µm</a:t>
            </a:r>
            <a:endParaRPr lang="en-US" dirty="0"/>
          </a:p>
          <a:p>
            <a:pPr marL="0" indent="0" algn="just">
              <a:buNone/>
            </a:pPr>
            <a:r>
              <a:rPr lang="en-US" dirty="0"/>
              <a:t>Kin = Kout = 0.5 for all </a:t>
            </a:r>
            <a:r>
              <a:rPr lang="en-US" dirty="0" err="1"/>
              <a:t>wvl</a:t>
            </a:r>
            <a:endParaRPr lang="en-US"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F95B976F-6522-EA3D-1323-5C97E9F88EDF}"/>
              </a:ext>
            </a:extLst>
          </p:cNvPr>
          <p:cNvSpPr/>
          <p:nvPr/>
        </p:nvSpPr>
        <p:spPr>
          <a:xfrm>
            <a:off x="609441" y="1418372"/>
            <a:ext cx="5598081" cy="41442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8934523B-51D9-2926-EAC0-7EAD4D1D5B75}"/>
              </a:ext>
            </a:extLst>
          </p:cNvPr>
          <p:cNvSpPr txBox="1"/>
          <p:nvPr/>
        </p:nvSpPr>
        <p:spPr>
          <a:xfrm>
            <a:off x="1690195" y="2494306"/>
            <a:ext cx="3171061" cy="1154162"/>
          </a:xfrm>
          <a:prstGeom prst="rect">
            <a:avLst/>
          </a:prstGeom>
          <a:noFill/>
        </p:spPr>
        <p:txBody>
          <a:bodyPr wrap="none" rtlCol="0">
            <a:spAutoFit/>
          </a:bodyPr>
          <a:lstStyle/>
          <a:p>
            <a:pPr algn="ctr"/>
            <a:r>
              <a:rPr lang="es-ES" dirty="0"/>
              <a:t>MZI transfer </a:t>
            </a:r>
            <a:r>
              <a:rPr lang="es-ES" dirty="0" err="1"/>
              <a:t>functions</a:t>
            </a:r>
            <a:endParaRPr lang="en-US" dirty="0"/>
          </a:p>
          <a:p>
            <a:pPr algn="ctr"/>
            <a:endParaRPr lang="en-US" dirty="0"/>
          </a:p>
          <a:p>
            <a:pPr algn="ctr"/>
            <a:r>
              <a:rPr lang="en-US" dirty="0"/>
              <a:t>Paste plot here</a:t>
            </a:r>
          </a:p>
        </p:txBody>
      </p:sp>
      <p:sp>
        <p:nvSpPr>
          <p:cNvPr id="8" name="Rectángulo 7">
            <a:extLst>
              <a:ext uri="{FF2B5EF4-FFF2-40B4-BE49-F238E27FC236}">
                <a16:creationId xmlns:a16="http://schemas.microsoft.com/office/drawing/2014/main" id="{9650C78C-6456-2EA0-A8E0-E278396E7EEB}"/>
              </a:ext>
            </a:extLst>
          </p:cNvPr>
          <p:cNvSpPr/>
          <p:nvPr/>
        </p:nvSpPr>
        <p:spPr>
          <a:xfrm>
            <a:off x="6308926" y="1418372"/>
            <a:ext cx="2901310" cy="2395032"/>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Imagen 9">
            <a:extLst>
              <a:ext uri="{FF2B5EF4-FFF2-40B4-BE49-F238E27FC236}">
                <a16:creationId xmlns:a16="http://schemas.microsoft.com/office/drawing/2014/main" id="{8228940C-920D-6655-F6C4-BC0968E2E8E6}"/>
              </a:ext>
            </a:extLst>
          </p:cNvPr>
          <p:cNvPicPr>
            <a:picLocks noChangeAspect="1"/>
          </p:cNvPicPr>
          <p:nvPr/>
        </p:nvPicPr>
        <p:blipFill>
          <a:blip r:embed="rId4"/>
          <a:stretch>
            <a:fillRect/>
          </a:stretch>
        </p:blipFill>
        <p:spPr>
          <a:xfrm>
            <a:off x="6463581" y="1487681"/>
            <a:ext cx="2627858" cy="2176809"/>
          </a:xfrm>
          <a:prstGeom prst="rect">
            <a:avLst/>
          </a:prstGeom>
        </p:spPr>
      </p:pic>
      <p:pic>
        <p:nvPicPr>
          <p:cNvPr id="12" name="Imagen 11">
            <a:extLst>
              <a:ext uri="{FF2B5EF4-FFF2-40B4-BE49-F238E27FC236}">
                <a16:creationId xmlns:a16="http://schemas.microsoft.com/office/drawing/2014/main" id="{28DFF09F-FBEC-7D7E-2D42-9AD961C0660A}"/>
              </a:ext>
            </a:extLst>
          </p:cNvPr>
          <p:cNvPicPr>
            <a:picLocks noChangeAspect="1"/>
          </p:cNvPicPr>
          <p:nvPr/>
        </p:nvPicPr>
        <p:blipFill>
          <a:blip r:embed="rId5"/>
          <a:srcRect t="1845"/>
          <a:stretch>
            <a:fillRect/>
          </a:stretch>
        </p:blipFill>
        <p:spPr>
          <a:xfrm>
            <a:off x="653630" y="1487681"/>
            <a:ext cx="5442370" cy="3951947"/>
          </a:xfrm>
          <a:prstGeom prst="rect">
            <a:avLst/>
          </a:prstGeom>
        </p:spPr>
      </p:pic>
    </p:spTree>
    <p:extLst>
      <p:ext uri="{BB962C8B-B14F-4D97-AF65-F5344CB8AC3E}">
        <p14:creationId xmlns:p14="http://schemas.microsoft.com/office/powerpoint/2010/main" val="2395180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4FCB1-337D-7EF0-63FF-1A1B1843B998}"/>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D8C730F-9FEF-3A05-F8CD-88EF9F4F8527}"/>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#1b – Unbalanced MZI</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D66C5FB1-8CBD-64BB-5170-BBB552018A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A448128-8A18-6191-2387-205D10D37BB2}"/>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5C5140B1-032C-38C5-C500-1AC874C1413D}"/>
              </a:ext>
            </a:extLst>
          </p:cNvPr>
          <p:cNvSpPr>
            <a:spLocks noGrp="1"/>
          </p:cNvSpPr>
          <p:nvPr>
            <p:ph type="ftr" sz="quarter" idx="5"/>
          </p:nvPr>
        </p:nvSpPr>
        <p:spPr/>
        <p:txBody>
          <a:bodyPr/>
          <a:lstStyle/>
          <a:p>
            <a:pPr marL="12700">
              <a:spcBef>
                <a:spcPts val="15"/>
              </a:spcBef>
            </a:pPr>
            <a:r>
              <a:rPr lang="en-US" spc="-5"/>
              <a:t>LAB 3.0. CIRCUITS &amp; COMPACT MODELS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D5FB5851-7805-8118-694D-012D4466B617}"/>
                  </a:ext>
                </a:extLst>
              </p:cNvPr>
              <p:cNvSpPr txBox="1"/>
              <p:nvPr/>
            </p:nvSpPr>
            <p:spPr>
              <a:xfrm>
                <a:off x="583019" y="1524000"/>
                <a:ext cx="11199971" cy="3231654"/>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b="1" i="1"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Comment results: describe the transfer function, which is the FSR? How is it related to the length difference among arms? </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este apartado, el MZI está desbalanceado porque hay una diferencia de longitud entre los dos brazos, </a:t>
                </a:r>
                <a14:m>
                  <m:oMath xmlns:m="http://schemas.openxmlformats.org/officeDocument/2006/math">
                    <m:r>
                      <a:rPr lang="es-ES" sz="1200" i="1">
                        <a:latin typeface="Cambria Math" panose="02040503050406030204" pitchFamily="18" charset="0"/>
                      </a:rPr>
                      <m:t>𝑑𝐿</m:t>
                    </m:r>
                    <m:r>
                      <a:rPr lang="es-ES" sz="1200">
                        <a:latin typeface="Cambria Math" panose="02040503050406030204" pitchFamily="18" charset="0"/>
                      </a:rPr>
                      <m:t>=</m:t>
                    </m:r>
                    <m:r>
                      <a:rPr lang="es-ES" sz="1200">
                        <a:latin typeface="Cambria Math" panose="02040503050406030204" pitchFamily="18" charset="0"/>
                      </a:rPr>
                      <m:t>100</m:t>
                    </m:r>
                    <m:r>
                      <m:rPr>
                        <m:nor/>
                      </m:rPr>
                      <a:rPr lang="es-ES" sz="1200" i="1">
                        <a:latin typeface="Arial" panose="020B0604020202020204" pitchFamily="34" charset="0"/>
                        <a:cs typeface="Arial" panose="020B0604020202020204" pitchFamily="34" charset="0"/>
                      </a:rPr>
                      <m:t> </m:t>
                    </m:r>
                    <m:r>
                      <a:rPr lang="es-ES" sz="1200" i="1">
                        <a:latin typeface="Cambria Math" panose="02040503050406030204" pitchFamily="18" charset="0"/>
                      </a:rPr>
                      <m:t>𝜇</m:t>
                    </m:r>
                    <m:r>
                      <a:rPr lang="es-ES" sz="1200" i="1">
                        <a:latin typeface="Cambria Math" panose="02040503050406030204" pitchFamily="18" charset="0"/>
                      </a:rPr>
                      <m:t>𝑚</m:t>
                    </m:r>
                  </m:oMath>
                </a14:m>
                <a:r>
                  <a:rPr lang="es-ES" sz="1200" dirty="0">
                    <a:latin typeface="Arial" panose="020B0604020202020204" pitchFamily="34" charset="0"/>
                    <a:cs typeface="Arial" panose="020B0604020202020204" pitchFamily="34" charset="0"/>
                  </a:rPr>
                  <a:t>. Esa diferencia hace que la fase relativa entre los caminos cambie con la longitud de onda, así que la interferencia no es siempre igual.</a:t>
                </a:r>
              </a:p>
              <a:p>
                <a:pPr algn="just"/>
                <a:r>
                  <a:rPr lang="es-ES" sz="1200" dirty="0">
                    <a:latin typeface="Arial" panose="020B0604020202020204" pitchFamily="34" charset="0"/>
                    <a:cs typeface="Arial" panose="020B0604020202020204" pitchFamily="34" charset="0"/>
                  </a:rPr>
                  <a:t>Por eso aparecen oscilaciones en la transmisión: cuando las señales llegan en fase, una salida tiene un máximo y cuando llegan en contrafase, aparece un mínimo. Además, las dos salidas son complementarias, es decir, cuando una sube la otra baja. Por otro lado en escala dB se ven picos muy profundos porque en algunos puntos la interferencia destructiva casi cancela por completo la señal.</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Show a numeric calculation of the FSR and length difference matching the results in the graph,</a:t>
                </a:r>
              </a:p>
              <a:p>
                <a:pPr algn="just"/>
                <a:endParaRPr lang="en-US" sz="1200" b="1" i="1"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El FSR es la separación en longitud de onda entre dos máximos o mínimos consecutivos de la función de transferencia. En la gráfica, las oscilaciones aparecen separadas entre ellas aproximadamente 12.013 nm, que coincide con el valor calculado mediante la fórmula FSR=</a:t>
                </a:r>
                <a:r>
                  <a:rPr lang="el-GR" sz="1200" dirty="0">
                    <a:latin typeface="Arial" panose="020B0604020202020204" pitchFamily="34" charset="0"/>
                    <a:cs typeface="Arial" panose="020B0604020202020204" pitchFamily="34" charset="0"/>
                  </a:rPr>
                  <a:t>λ</a:t>
                </a:r>
                <a:r>
                  <a:rPr lang="es-ES" sz="1200" dirty="0">
                    <a:latin typeface="Arial" panose="020B0604020202020204" pitchFamily="34" charset="0"/>
                    <a:cs typeface="Arial" panose="020B0604020202020204" pitchFamily="34" charset="0"/>
                  </a:rPr>
                  <a:t>o^2/ng​⋅</a:t>
                </a:r>
                <a:r>
                  <a:rPr lang="es-ES" sz="1200" dirty="0" err="1">
                    <a:latin typeface="Arial" panose="020B0604020202020204" pitchFamily="34" charset="0"/>
                    <a:cs typeface="Arial" panose="020B0604020202020204" pitchFamily="34" charset="0"/>
                  </a:rPr>
                  <a:t>dL</a:t>
                </a:r>
                <a:r>
                  <a:rPr lang="es-ES" sz="1200" dirty="0">
                    <a:latin typeface="Arial" panose="020B0604020202020204" pitchFamily="34" charset="0"/>
                    <a:cs typeface="Arial" panose="020B0604020202020204" pitchFamily="34" charset="0"/>
                  </a:rPr>
                  <a:t>, usando los datos que aparecen en la imagen de la diapositiva anterior.</a:t>
                </a:r>
              </a:p>
              <a:p>
                <a:pPr algn="just"/>
                <a:r>
                  <a:rPr lang="es-ES" sz="1200" dirty="0">
                    <a:latin typeface="Arial" panose="020B0604020202020204" pitchFamily="34" charset="0"/>
                    <a:cs typeface="Arial" panose="020B0604020202020204" pitchFamily="34" charset="0"/>
                  </a:rPr>
                  <a:t>Esto confirma que las oscilaciones de la gráfica corresponden a la diferencia de longitud escogida entre los brazos del MZI. Además, si </a:t>
                </a:r>
                <a14:m>
                  <m:oMath xmlns:m="http://schemas.openxmlformats.org/officeDocument/2006/math">
                    <m:r>
                      <a:rPr lang="es-ES" sz="1200" i="1">
                        <a:latin typeface="Cambria Math" panose="02040503050406030204" pitchFamily="18" charset="0"/>
                      </a:rPr>
                      <m:t>𝑑𝐿</m:t>
                    </m:r>
                  </m:oMath>
                </a14:m>
                <a:r>
                  <a:rPr lang="es-ES" sz="1200" dirty="0">
                    <a:latin typeface="Arial" panose="020B0604020202020204" pitchFamily="34" charset="0"/>
                    <a:cs typeface="Arial" panose="020B0604020202020204" pitchFamily="34" charset="0"/>
                  </a:rPr>
                  <a:t>aumenta, el FSR disminuye, porque la fase cambia más rápido con la longitud de onda.</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D5FB5851-7805-8118-694D-012D4466B617}"/>
                  </a:ext>
                </a:extLst>
              </p:cNvPr>
              <p:cNvSpPr txBox="1">
                <a:spLocks noRot="1" noChangeAspect="1" noMove="1" noResize="1" noEditPoints="1" noAdjustHandles="1" noChangeArrowheads="1" noChangeShapeType="1" noTextEdit="1"/>
              </p:cNvSpPr>
              <p:nvPr/>
            </p:nvSpPr>
            <p:spPr>
              <a:xfrm>
                <a:off x="583019" y="1524000"/>
                <a:ext cx="11199971" cy="3231654"/>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8802189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F929251A-3DC4-36B2-3FB3-341378364BED}"/>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7</a:t>
            </a:fld>
            <a:endParaRPr lang="en-US" dirty="0"/>
          </a:p>
        </p:txBody>
      </p:sp>
      <p:sp>
        <p:nvSpPr>
          <p:cNvPr id="11" name="Rectángulo 10">
            <a:extLst>
              <a:ext uri="{FF2B5EF4-FFF2-40B4-BE49-F238E27FC236}">
                <a16:creationId xmlns:a16="http://schemas.microsoft.com/office/drawing/2014/main" id="{B811A5F9-C0B5-716C-70FB-9472E1BC2CD3}"/>
              </a:ext>
            </a:extLst>
          </p:cNvPr>
          <p:cNvSpPr/>
          <p:nvPr/>
        </p:nvSpPr>
        <p:spPr>
          <a:xfrm>
            <a:off x="611030" y="1418373"/>
            <a:ext cx="2297052" cy="2696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uadroTexto 11">
            <a:extLst>
              <a:ext uri="{FF2B5EF4-FFF2-40B4-BE49-F238E27FC236}">
                <a16:creationId xmlns:a16="http://schemas.microsoft.com/office/drawing/2014/main" id="{1D17C364-5A66-F740-B152-8B41A2A4EF26}"/>
              </a:ext>
            </a:extLst>
          </p:cNvPr>
          <p:cNvSpPr txBox="1"/>
          <p:nvPr/>
        </p:nvSpPr>
        <p:spPr>
          <a:xfrm>
            <a:off x="5305711" y="2494307"/>
            <a:ext cx="2494977" cy="1015663"/>
          </a:xfrm>
          <a:prstGeom prst="rect">
            <a:avLst/>
          </a:prstGeom>
          <a:noFill/>
        </p:spPr>
        <p:txBody>
          <a:bodyPr wrap="none" rtlCol="0">
            <a:spAutoFit/>
          </a:bodyPr>
          <a:lstStyle/>
          <a:p>
            <a:pPr algn="ctr"/>
            <a:r>
              <a:rPr lang="es-ES" sz="2000" dirty="0"/>
              <a:t>MZI transfer </a:t>
            </a:r>
            <a:r>
              <a:rPr lang="es-ES" sz="2000" dirty="0" err="1"/>
              <a:t>functions</a:t>
            </a:r>
            <a:endParaRPr lang="en-US" sz="2000" dirty="0"/>
          </a:p>
          <a:p>
            <a:pPr algn="ctr"/>
            <a:endParaRPr lang="en-US" sz="2000" dirty="0"/>
          </a:p>
          <a:p>
            <a:pPr algn="ctr"/>
            <a:r>
              <a:rPr lang="en-US" sz="2000" dirty="0"/>
              <a:t>Paste plot here</a:t>
            </a:r>
          </a:p>
        </p:txBody>
      </p:sp>
      <p:sp>
        <p:nvSpPr>
          <p:cNvPr id="3" name="Rectángulo 2">
            <a:extLst>
              <a:ext uri="{FF2B5EF4-FFF2-40B4-BE49-F238E27FC236}">
                <a16:creationId xmlns:a16="http://schemas.microsoft.com/office/drawing/2014/main" id="{5FB43DF1-4048-35BF-BD58-4BF2A341D2EF}"/>
              </a:ext>
            </a:extLst>
          </p:cNvPr>
          <p:cNvSpPr/>
          <p:nvPr/>
        </p:nvSpPr>
        <p:spPr>
          <a:xfrm>
            <a:off x="9828370" y="1418373"/>
            <a:ext cx="1982190" cy="2315427"/>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b="1" dirty="0">
                <a:solidFill>
                  <a:schemeClr val="tx1"/>
                </a:solidFill>
                <a:latin typeface="Arial" panose="020B0604020202020204" pitchFamily="34" charset="0"/>
                <a:cs typeface="Arial" panose="020B0604020202020204" pitchFamily="34" charset="0"/>
              </a:rPr>
              <a:t>Hints:</a:t>
            </a:r>
            <a:endParaRPr lang="en-US" dirty="0">
              <a:solidFill>
                <a:schemeClr val="tx1"/>
              </a:solidFill>
              <a:latin typeface="Arial" panose="020B0604020202020204" pitchFamily="34" charset="0"/>
              <a:cs typeface="Arial" panose="020B0604020202020204" pitchFamily="34" charset="0"/>
            </a:endParaRPr>
          </a:p>
          <a:p>
            <a:pPr algn="just"/>
            <a:r>
              <a:rPr lang="en-US" dirty="0" err="1">
                <a:solidFill>
                  <a:schemeClr val="tx1"/>
                </a:solidFill>
                <a:latin typeface="Arial" panose="020B0604020202020204" pitchFamily="34" charset="0"/>
                <a:cs typeface="Arial" panose="020B0604020202020204" pitchFamily="34" charset="0"/>
                <a:sym typeface="Wingdings" pitchFamily="2" charset="2"/>
              </a:rPr>
              <a:t>wvl</a:t>
            </a:r>
            <a:r>
              <a:rPr lang="en-US" dirty="0">
                <a:solidFill>
                  <a:schemeClr val="tx1"/>
                </a:solidFill>
                <a:latin typeface="Arial" panose="020B0604020202020204" pitchFamily="34" charset="0"/>
                <a:cs typeface="Arial" panose="020B0604020202020204" pitchFamily="34" charset="0"/>
                <a:sym typeface="Wingdings" pitchFamily="2" charset="2"/>
              </a:rPr>
              <a:t> [1500-1600] step 0.001</a:t>
            </a:r>
          </a:p>
          <a:p>
            <a:pPr algn="just"/>
            <a:r>
              <a:rPr lang="en-US" dirty="0">
                <a:solidFill>
                  <a:schemeClr val="tx1"/>
                </a:solidFill>
                <a:latin typeface="Arial" panose="020B0604020202020204" pitchFamily="34" charset="0"/>
                <a:cs typeface="Arial" panose="020B0604020202020204" pitchFamily="34" charset="0"/>
                <a:sym typeface="Wingdings" pitchFamily="2" charset="2"/>
              </a:rPr>
              <a:t>dL = ? µm </a:t>
            </a:r>
            <a:r>
              <a:rPr lang="en-US" b="1" dirty="0">
                <a:solidFill>
                  <a:schemeClr val="tx1"/>
                </a:solidFill>
                <a:latin typeface="Arial" panose="020B0604020202020204" pitchFamily="34" charset="0"/>
                <a:cs typeface="Arial" panose="020B0604020202020204" pitchFamily="34" charset="0"/>
                <a:sym typeface="Wingdings" pitchFamily="2" charset="2"/>
              </a:rPr>
              <a:t>calculate for FSR = 2 nm </a:t>
            </a:r>
          </a:p>
          <a:p>
            <a:pPr algn="just"/>
            <a:r>
              <a:rPr lang="en-US" dirty="0">
                <a:solidFill>
                  <a:schemeClr val="tx1"/>
                </a:solidFill>
                <a:latin typeface="Arial" panose="020B0604020202020204" pitchFamily="34" charset="0"/>
                <a:cs typeface="Arial" panose="020B0604020202020204" pitchFamily="34" charset="0"/>
                <a:sym typeface="Wingdings" pitchFamily="2" charset="2"/>
              </a:rPr>
              <a:t>Ka = </a:t>
            </a:r>
            <a:r>
              <a:rPr lang="en-US" dirty="0" err="1">
                <a:solidFill>
                  <a:schemeClr val="tx1"/>
                </a:solidFill>
                <a:latin typeface="Arial" panose="020B0604020202020204" pitchFamily="34" charset="0"/>
                <a:cs typeface="Arial" panose="020B0604020202020204" pitchFamily="34" charset="0"/>
                <a:sym typeface="Wingdings" pitchFamily="2" charset="2"/>
              </a:rPr>
              <a:t>Kb</a:t>
            </a:r>
            <a:r>
              <a:rPr lang="en-US" dirty="0">
                <a:solidFill>
                  <a:schemeClr val="tx1"/>
                </a:solidFill>
                <a:latin typeface="Arial" panose="020B0604020202020204" pitchFamily="34" charset="0"/>
                <a:cs typeface="Arial" panose="020B0604020202020204" pitchFamily="34" charset="0"/>
                <a:sym typeface="Wingdings" pitchFamily="2" charset="2"/>
              </a:rPr>
              <a:t> = 0.5 for all </a:t>
            </a:r>
            <a:r>
              <a:rPr lang="en-US" dirty="0" err="1">
                <a:solidFill>
                  <a:schemeClr val="tx1"/>
                </a:solidFill>
                <a:latin typeface="Arial" panose="020B0604020202020204" pitchFamily="34" charset="0"/>
                <a:cs typeface="Arial" panose="020B0604020202020204" pitchFamily="34" charset="0"/>
                <a:sym typeface="Wingdings" pitchFamily="2" charset="2"/>
              </a:rPr>
              <a:t>wvl</a:t>
            </a:r>
            <a:endParaRPr lang="en-US" dirty="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200" dirty="0">
              <a:solidFill>
                <a:schemeClr val="tx1"/>
              </a:solidFill>
              <a:latin typeface="Arial" panose="020B0604020202020204" pitchFamily="34" charset="0"/>
              <a:cs typeface="Arial" panose="020B0604020202020204" pitchFamily="34" charset="0"/>
            </a:endParaRPr>
          </a:p>
          <a:p>
            <a:pPr algn="just"/>
            <a:endParaRPr lang="en-US" sz="1200" dirty="0">
              <a:solidFill>
                <a:schemeClr val="tx1"/>
              </a:solidFill>
              <a:latin typeface="Arial" panose="020B0604020202020204" pitchFamily="34" charset="0"/>
              <a:cs typeface="Arial" panose="020B0604020202020204" pitchFamily="34" charset="0"/>
            </a:endParaRPr>
          </a:p>
        </p:txBody>
      </p:sp>
      <p:sp>
        <p:nvSpPr>
          <p:cNvPr id="14" name="Rectángulo 13">
            <a:extLst>
              <a:ext uri="{FF2B5EF4-FFF2-40B4-BE49-F238E27FC236}">
                <a16:creationId xmlns:a16="http://schemas.microsoft.com/office/drawing/2014/main" id="{6AA857E7-5C39-DCE1-10B5-40300FCF4B26}"/>
              </a:ext>
            </a:extLst>
          </p:cNvPr>
          <p:cNvSpPr/>
          <p:nvPr/>
        </p:nvSpPr>
        <p:spPr>
          <a:xfrm>
            <a:off x="3115150" y="1418372"/>
            <a:ext cx="6486050" cy="4406015"/>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áfico 9">
            <a:extLst>
              <a:ext uri="{FF2B5EF4-FFF2-40B4-BE49-F238E27FC236}">
                <a16:creationId xmlns:a16="http://schemas.microsoft.com/office/drawing/2014/main" id="{C582D9ED-A2CE-6C08-D473-4C1FC636E81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98DA9316-CFD5-58C0-735F-237403D53172}"/>
              </a:ext>
            </a:extLst>
          </p:cNvPr>
          <p:cNvSpPr txBox="1">
            <a:spLocks/>
          </p:cNvSpPr>
          <p:nvPr/>
        </p:nvSpPr>
        <p:spPr>
          <a:xfrm>
            <a:off x="685800" y="408883"/>
            <a:ext cx="10994410" cy="1025922"/>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#2 – MZI Design</a:t>
            </a:r>
          </a:p>
          <a:p>
            <a:pPr marL="12700">
              <a:spcBef>
                <a:spcPts val="100"/>
              </a:spcBef>
            </a:pPr>
            <a:r>
              <a:rPr lang="en-US" b="0" kern="0" spc="-5" dirty="0">
                <a:latin typeface="+mj-lt"/>
                <a:cs typeface="Lucida Sans"/>
              </a:rPr>
              <a:t>Design a MZI with FSR = 2 nm at 1550 nm</a:t>
            </a:r>
            <a:br>
              <a:rPr lang="en-US" b="0" kern="0" spc="-5" dirty="0">
                <a:latin typeface="+mj-lt"/>
                <a:cs typeface="Lucida Sans"/>
              </a:rPr>
            </a:br>
            <a:endParaRPr lang="en-US" b="0" kern="0" dirty="0">
              <a:latin typeface="+mj-lt"/>
              <a:cs typeface="Lucida Sans"/>
            </a:endParaRPr>
          </a:p>
        </p:txBody>
      </p:sp>
      <p:pic>
        <p:nvPicPr>
          <p:cNvPr id="4" name="Imagen 3">
            <a:extLst>
              <a:ext uri="{FF2B5EF4-FFF2-40B4-BE49-F238E27FC236}">
                <a16:creationId xmlns:a16="http://schemas.microsoft.com/office/drawing/2014/main" id="{F123B752-59B6-0B3A-B7EF-2F4BD3A00B0B}"/>
              </a:ext>
            </a:extLst>
          </p:cNvPr>
          <p:cNvPicPr>
            <a:picLocks noChangeAspect="1"/>
          </p:cNvPicPr>
          <p:nvPr/>
        </p:nvPicPr>
        <p:blipFill>
          <a:blip r:embed="rId3"/>
          <a:stretch>
            <a:fillRect/>
          </a:stretch>
        </p:blipFill>
        <p:spPr>
          <a:xfrm>
            <a:off x="3165732" y="1490179"/>
            <a:ext cx="6283068" cy="4202283"/>
          </a:xfrm>
          <a:prstGeom prst="rect">
            <a:avLst/>
          </a:prstGeom>
        </p:spPr>
      </p:pic>
      <p:sp>
        <p:nvSpPr>
          <p:cNvPr id="9" name="CuadroTexto 8">
            <a:extLst>
              <a:ext uri="{FF2B5EF4-FFF2-40B4-BE49-F238E27FC236}">
                <a16:creationId xmlns:a16="http://schemas.microsoft.com/office/drawing/2014/main" id="{14CD6A40-C64D-BA97-332E-98CDBE2BEC09}"/>
              </a:ext>
            </a:extLst>
          </p:cNvPr>
          <p:cNvSpPr txBox="1"/>
          <p:nvPr/>
        </p:nvSpPr>
        <p:spPr>
          <a:xfrm>
            <a:off x="685800" y="1600200"/>
            <a:ext cx="2354580" cy="2308324"/>
          </a:xfrm>
          <a:prstGeom prst="rect">
            <a:avLst/>
          </a:prstGeom>
          <a:noFill/>
        </p:spPr>
        <p:txBody>
          <a:bodyPr wrap="square">
            <a:spAutoFit/>
          </a:bodyPr>
          <a:lstStyle/>
          <a:p>
            <a:r>
              <a:rPr lang="es-ES" dirty="0">
                <a:latin typeface="Arial" panose="020B0604020202020204" pitchFamily="34" charset="0"/>
                <a:cs typeface="Arial" panose="020B0604020202020204" pitchFamily="34" charset="0"/>
              </a:rPr>
              <a:t>Datos : </a:t>
            </a:r>
          </a:p>
          <a:p>
            <a:r>
              <a:rPr lang="es-ES" dirty="0">
                <a:latin typeface="Arial" panose="020B0604020202020204" pitchFamily="34" charset="0"/>
                <a:cs typeface="Arial" panose="020B0604020202020204" pitchFamily="34" charset="0"/>
              </a:rPr>
              <a:t>FSR = 2 nm</a:t>
            </a:r>
          </a:p>
          <a:p>
            <a:r>
              <a:rPr lang="es-ES" dirty="0">
                <a:latin typeface="Arial" panose="020B0604020202020204" pitchFamily="34" charset="0"/>
                <a:cs typeface="Arial" panose="020B0604020202020204" pitchFamily="34" charset="0"/>
              </a:rPr>
              <a:t>ng = 2</a:t>
            </a:r>
          </a:p>
          <a:p>
            <a:r>
              <a:rPr lang="el-GR" dirty="0">
                <a:latin typeface="Arial" panose="020B0604020202020204" pitchFamily="34" charset="0"/>
                <a:cs typeface="Arial" panose="020B0604020202020204" pitchFamily="34" charset="0"/>
              </a:rPr>
              <a:t>λ</a:t>
            </a:r>
            <a:r>
              <a:rPr lang="es-ES" dirty="0">
                <a:latin typeface="Arial" panose="020B0604020202020204" pitchFamily="34" charset="0"/>
                <a:cs typeface="Arial" panose="020B0604020202020204" pitchFamily="34" charset="0"/>
              </a:rPr>
              <a:t>o =1.55 </a:t>
            </a:r>
            <a:r>
              <a:rPr lang="es-ES" dirty="0" err="1">
                <a:latin typeface="Arial" panose="020B0604020202020204" pitchFamily="34" charset="0"/>
                <a:cs typeface="Arial" panose="020B0604020202020204" pitchFamily="34" charset="0"/>
              </a:rPr>
              <a:t>um</a:t>
            </a:r>
            <a:endParaRPr lang="es-ES" dirty="0"/>
          </a:p>
          <a:p>
            <a:endParaRPr lang="es-ES" sz="1800" dirty="0">
              <a:latin typeface="Arial" panose="020B0604020202020204" pitchFamily="34" charset="0"/>
              <a:cs typeface="Arial" panose="020B0604020202020204" pitchFamily="34" charset="0"/>
            </a:endParaRPr>
          </a:p>
          <a:p>
            <a:r>
              <a:rPr lang="es-ES" sz="1800" dirty="0">
                <a:latin typeface="Arial" panose="020B0604020202020204" pitchFamily="34" charset="0"/>
                <a:cs typeface="Arial" panose="020B0604020202020204" pitchFamily="34" charset="0"/>
              </a:rPr>
              <a:t>FSR = </a:t>
            </a:r>
            <a:r>
              <a:rPr lang="el-GR" sz="1800" dirty="0">
                <a:latin typeface="Arial" panose="020B0604020202020204" pitchFamily="34" charset="0"/>
                <a:cs typeface="Arial" panose="020B0604020202020204" pitchFamily="34" charset="0"/>
              </a:rPr>
              <a:t>λ</a:t>
            </a:r>
            <a:r>
              <a:rPr lang="es-ES" sz="1800" dirty="0">
                <a:latin typeface="Arial" panose="020B0604020202020204" pitchFamily="34" charset="0"/>
                <a:cs typeface="Arial" panose="020B0604020202020204" pitchFamily="34" charset="0"/>
              </a:rPr>
              <a:t>o^2/ng​⋅</a:t>
            </a:r>
            <a:r>
              <a:rPr lang="es-ES" sz="1800" dirty="0" err="1">
                <a:latin typeface="Arial" panose="020B0604020202020204" pitchFamily="34" charset="0"/>
                <a:cs typeface="Arial" panose="020B0604020202020204" pitchFamily="34" charset="0"/>
              </a:rPr>
              <a:t>dL</a:t>
            </a:r>
            <a:endParaRPr lang="es-ES" dirty="0">
              <a:latin typeface="Arial" panose="020B0604020202020204" pitchFamily="34" charset="0"/>
              <a:cs typeface="Arial" panose="020B0604020202020204" pitchFamily="34" charset="0"/>
            </a:endParaRPr>
          </a:p>
          <a:p>
            <a:r>
              <a:rPr lang="es-ES" dirty="0" err="1">
                <a:latin typeface="Arial" panose="020B0604020202020204" pitchFamily="34" charset="0"/>
                <a:cs typeface="Arial" panose="020B0604020202020204" pitchFamily="34" charset="0"/>
              </a:rPr>
              <a:t>dL</a:t>
            </a:r>
            <a:r>
              <a:rPr lang="es-ES" dirty="0">
                <a:latin typeface="Arial" panose="020B0604020202020204" pitchFamily="34" charset="0"/>
                <a:cs typeface="Arial" panose="020B0604020202020204" pitchFamily="34" charset="0"/>
              </a:rPr>
              <a:t> =</a:t>
            </a:r>
            <a:r>
              <a:rPr lang="el-GR" dirty="0">
                <a:latin typeface="Arial" panose="020B0604020202020204" pitchFamily="34" charset="0"/>
                <a:cs typeface="Arial" panose="020B0604020202020204" pitchFamily="34" charset="0"/>
              </a:rPr>
              <a:t> λ</a:t>
            </a:r>
            <a:r>
              <a:rPr lang="es-ES" dirty="0">
                <a:latin typeface="Arial" panose="020B0604020202020204" pitchFamily="34" charset="0"/>
                <a:cs typeface="Arial" panose="020B0604020202020204" pitchFamily="34" charset="0"/>
              </a:rPr>
              <a:t>o^2/</a:t>
            </a:r>
            <a:r>
              <a:rPr lang="es-ES" dirty="0" err="1">
                <a:latin typeface="Arial" panose="020B0604020202020204" pitchFamily="34" charset="0"/>
                <a:cs typeface="Arial" panose="020B0604020202020204" pitchFamily="34" charset="0"/>
              </a:rPr>
              <a:t>ng⋅FSR</a:t>
            </a:r>
            <a:r>
              <a:rPr lang="es-ES" dirty="0">
                <a:latin typeface="Arial" panose="020B0604020202020204" pitchFamily="34" charset="0"/>
                <a:cs typeface="Arial" panose="020B0604020202020204" pitchFamily="34" charset="0"/>
              </a:rPr>
              <a:t> =</a:t>
            </a:r>
          </a:p>
          <a:p>
            <a:r>
              <a:rPr lang="es-ES" dirty="0">
                <a:latin typeface="Arial" panose="020B0604020202020204" pitchFamily="34" charset="0"/>
                <a:cs typeface="Arial" panose="020B0604020202020204" pitchFamily="34" charset="0"/>
              </a:rPr>
              <a:t>     = </a:t>
            </a:r>
            <a:r>
              <a:rPr lang="es-ES" dirty="0"/>
              <a:t>600.625 </a:t>
            </a:r>
            <a:r>
              <a:rPr lang="es-ES" dirty="0" err="1"/>
              <a:t>um</a:t>
            </a:r>
            <a:endParaRPr lang="es-E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226544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8EEFC-A3ED-02F8-F79D-1B221FC702FF}"/>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6BB3BAB0-12AD-26CF-B9E0-EF9EDAF25D08}"/>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B6B2B63C-DE2F-E674-0C53-C0485C27F883}"/>
              </a:ext>
            </a:extLst>
          </p:cNvPr>
          <p:cNvSpPr>
            <a:spLocks noGrp="1"/>
          </p:cNvSpPr>
          <p:nvPr>
            <p:ph type="sldNum" sz="quarter" idx="7"/>
          </p:nvPr>
        </p:nvSpPr>
        <p:spPr/>
        <p:txBody>
          <a:bodyPr/>
          <a:lstStyle/>
          <a:p>
            <a:fld id="{C2F52289-4012-4053-9770-FE82CEB9514F}" type="slidenum">
              <a:rPr lang="en-US" smtClean="0"/>
              <a:pPr/>
              <a:t>8</a:t>
            </a:fld>
            <a:endParaRPr lang="en-US" dirty="0"/>
          </a:p>
        </p:txBody>
      </p:sp>
      <p:sp>
        <p:nvSpPr>
          <p:cNvPr id="8" name="CuadroTexto 7">
            <a:extLst>
              <a:ext uri="{FF2B5EF4-FFF2-40B4-BE49-F238E27FC236}">
                <a16:creationId xmlns:a16="http://schemas.microsoft.com/office/drawing/2014/main" id="{F72DB91C-CD88-419A-A72F-B930F5C50808}"/>
              </a:ext>
            </a:extLst>
          </p:cNvPr>
          <p:cNvSpPr txBox="1"/>
          <p:nvPr/>
        </p:nvSpPr>
        <p:spPr>
          <a:xfrm>
            <a:off x="496235" y="1676400"/>
            <a:ext cx="11199530" cy="2308324"/>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b="1" i="1"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este ejercicio se ha diseñado el MZI para obtener un FSR de 2 nm alrededor de 1550 nm. Para ello, se ha calculado con la fórmula de la diapositiva anterior, una diferencia de longitud entre brazos de aproximadamente 600.625 µm.</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Al aumentar esta diferencia de longitud, la señal que viaja por un brazo acumula más fase que la del otro. Por eso, pequeños cambios en la longitud de onda ya producen cambios importantes en la interferencia. Como consecuencia, las oscilaciones aparecen más juntas que en el caso anterior.</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La simulación confirma el diseño, ya que la separación entre máximos o mínimos consecutivos es de unos 2 nm. Además, las dos salidas siguen siendo complementarias porque la potencia se reparte entre ellas: cuando una salida está en interferencia constructiva, la otra está en interferencia destructiva.</a:t>
            </a:r>
          </a:p>
          <a:p>
            <a:pPr algn="just"/>
            <a:endParaRPr lang="en-US" sz="1200" dirty="0">
              <a:latin typeface="Arial" panose="020B0604020202020204" pitchFamily="34" charset="0"/>
              <a:cs typeface="Arial" panose="020B0604020202020204" pitchFamily="34" charset="0"/>
            </a:endParaRPr>
          </a:p>
        </p:txBody>
      </p:sp>
      <p:pic>
        <p:nvPicPr>
          <p:cNvPr id="10" name="Gráfico 9">
            <a:extLst>
              <a:ext uri="{FF2B5EF4-FFF2-40B4-BE49-F238E27FC236}">
                <a16:creationId xmlns:a16="http://schemas.microsoft.com/office/drawing/2014/main" id="{8E9C3D1E-1BA6-D96E-3BA2-579FA55D8C7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0ED95477-F923-D5C0-E148-A8D2348ACBCC}"/>
              </a:ext>
            </a:extLst>
          </p:cNvPr>
          <p:cNvSpPr txBox="1">
            <a:spLocks/>
          </p:cNvSpPr>
          <p:nvPr/>
        </p:nvSpPr>
        <p:spPr>
          <a:xfrm>
            <a:off x="685800" y="408883"/>
            <a:ext cx="10994410" cy="1025922"/>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#2 – MZI Design</a:t>
            </a:r>
          </a:p>
          <a:p>
            <a:pPr marL="12700">
              <a:spcBef>
                <a:spcPts val="100"/>
              </a:spcBef>
            </a:pPr>
            <a:r>
              <a:rPr lang="en-US" b="0" kern="0" spc="-5" dirty="0">
                <a:latin typeface="+mj-lt"/>
                <a:cs typeface="Lucida Sans"/>
              </a:rPr>
              <a:t>Design a MZI with FSR = 2 nm at 1550 nm</a:t>
            </a:r>
            <a:br>
              <a:rPr lang="en-US" b="0" kern="0" spc="-5" dirty="0">
                <a:latin typeface="+mj-lt"/>
                <a:cs typeface="Lucida Sans"/>
              </a:rPr>
            </a:br>
            <a:endParaRPr lang="en-US" b="0" kern="0" dirty="0">
              <a:latin typeface="+mj-lt"/>
              <a:cs typeface="Lucida Sans"/>
            </a:endParaRPr>
          </a:p>
        </p:txBody>
      </p:sp>
    </p:spTree>
    <p:extLst>
      <p:ext uri="{BB962C8B-B14F-4D97-AF65-F5344CB8AC3E}">
        <p14:creationId xmlns:p14="http://schemas.microsoft.com/office/powerpoint/2010/main" val="15918076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1636B-7BF0-5143-57E9-673FF1B33E8E}"/>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D79F9CCB-631D-A124-3694-9DBF91E01CAA}"/>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DED76083-7F21-5E97-9AC1-DEEB9C8B23CA}"/>
              </a:ext>
            </a:extLst>
          </p:cNvPr>
          <p:cNvSpPr>
            <a:spLocks noGrp="1"/>
          </p:cNvSpPr>
          <p:nvPr>
            <p:ph type="sldNum" sz="quarter" idx="7"/>
          </p:nvPr>
        </p:nvSpPr>
        <p:spPr/>
        <p:txBody>
          <a:bodyPr/>
          <a:lstStyle/>
          <a:p>
            <a:fld id="{C2F52289-4012-4053-9770-FE82CEB9514F}" type="slidenum">
              <a:rPr lang="en-US" smtClean="0"/>
              <a:pPr/>
              <a:t>9</a:t>
            </a:fld>
            <a:endParaRPr lang="en-US" dirty="0"/>
          </a:p>
        </p:txBody>
      </p:sp>
      <p:pic>
        <p:nvPicPr>
          <p:cNvPr id="10" name="Gráfico 9">
            <a:extLst>
              <a:ext uri="{FF2B5EF4-FFF2-40B4-BE49-F238E27FC236}">
                <a16:creationId xmlns:a16="http://schemas.microsoft.com/office/drawing/2014/main" id="{6A4FE9E0-92EE-4367-CEE1-FB072709D7E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1E286371-F443-FD5C-BF57-FB23A8D7F4F7}"/>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#3 – Delay imbalance with loss</a:t>
            </a:r>
          </a:p>
          <a:p>
            <a:pPr marL="12700">
              <a:spcBef>
                <a:spcPts val="100"/>
              </a:spcBef>
            </a:pPr>
            <a:r>
              <a:rPr lang="en-US" b="0" kern="0" spc="-5" dirty="0">
                <a:latin typeface="+mj-lt"/>
                <a:cs typeface="Lucida Sans"/>
              </a:rPr>
              <a:t>Fringe visibility</a:t>
            </a:r>
            <a:endParaRPr lang="en-US" b="0" kern="0" dirty="0">
              <a:latin typeface="+mj-lt"/>
              <a:cs typeface="Lucida Sans"/>
            </a:endParaRPr>
          </a:p>
        </p:txBody>
      </p:sp>
      <p:sp>
        <p:nvSpPr>
          <p:cNvPr id="4" name="Rectángulo 3">
            <a:extLst>
              <a:ext uri="{FF2B5EF4-FFF2-40B4-BE49-F238E27FC236}">
                <a16:creationId xmlns:a16="http://schemas.microsoft.com/office/drawing/2014/main" id="{FDBAE930-4EE5-671B-4DE7-6BC60C48E7C0}"/>
              </a:ext>
            </a:extLst>
          </p:cNvPr>
          <p:cNvSpPr/>
          <p:nvPr/>
        </p:nvSpPr>
        <p:spPr>
          <a:xfrm>
            <a:off x="260931" y="1418373"/>
            <a:ext cx="4600326"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A6CCE634-FF91-FD5F-7C1D-4329E9DA2469}"/>
              </a:ext>
            </a:extLst>
          </p:cNvPr>
          <p:cNvSpPr/>
          <p:nvPr/>
        </p:nvSpPr>
        <p:spPr>
          <a:xfrm>
            <a:off x="9835849" y="1418373"/>
            <a:ext cx="1998445" cy="2789733"/>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sz="1100" b="1" dirty="0">
                <a:solidFill>
                  <a:schemeClr val="tx1"/>
                </a:solidFill>
                <a:latin typeface="Arial" panose="020B0604020202020204" pitchFamily="34" charset="0"/>
                <a:cs typeface="Arial" panose="020B0604020202020204" pitchFamily="34" charset="0"/>
              </a:rPr>
              <a:t>Hints:</a:t>
            </a:r>
          </a:p>
          <a:p>
            <a:pPr algn="just"/>
            <a:r>
              <a:rPr lang="en-US" sz="1100" dirty="0" err="1">
                <a:solidFill>
                  <a:schemeClr val="tx1"/>
                </a:solidFill>
                <a:latin typeface="Arial" panose="020B0604020202020204" pitchFamily="34" charset="0"/>
                <a:cs typeface="Arial" panose="020B0604020202020204" pitchFamily="34" charset="0"/>
                <a:sym typeface="Wingdings" pitchFamily="2" charset="2"/>
              </a:rPr>
              <a:t>wvl</a:t>
            </a:r>
            <a:r>
              <a:rPr lang="en-US" sz="1100" dirty="0">
                <a:solidFill>
                  <a:schemeClr val="tx1"/>
                </a:solidFill>
                <a:latin typeface="Arial" panose="020B0604020202020204" pitchFamily="34" charset="0"/>
                <a:cs typeface="Arial" panose="020B0604020202020204" pitchFamily="34" charset="0"/>
                <a:sym typeface="Wingdings" pitchFamily="2" charset="2"/>
              </a:rPr>
              <a:t> [1550-1550.5] step 0.0000005</a:t>
            </a:r>
          </a:p>
          <a:p>
            <a:pPr algn="just"/>
            <a:r>
              <a:rPr lang="en-US" sz="1100" dirty="0">
                <a:solidFill>
                  <a:schemeClr val="tx1"/>
                </a:solidFill>
                <a:latin typeface="Arial" panose="020B0604020202020204" pitchFamily="34" charset="0"/>
                <a:cs typeface="Arial" panose="020B0604020202020204" pitchFamily="34" charset="0"/>
                <a:sym typeface="Wingdings" pitchFamily="2" charset="2"/>
              </a:rPr>
              <a:t>Silicon waveguide model:</a:t>
            </a:r>
          </a:p>
          <a:p>
            <a:pPr algn="just"/>
            <a:r>
              <a:rPr lang="en-US" sz="1100" dirty="0" err="1">
                <a:solidFill>
                  <a:schemeClr val="tx1"/>
                </a:solidFill>
                <a:latin typeface="Arial" panose="020B0604020202020204" pitchFamily="34" charset="0"/>
                <a:cs typeface="Arial" panose="020B0604020202020204" pitchFamily="34" charset="0"/>
                <a:sym typeface="Wingdings" pitchFamily="2" charset="2"/>
              </a:rPr>
              <a:t>n_eff</a:t>
            </a:r>
            <a:r>
              <a:rPr lang="en-US" sz="1100" dirty="0">
                <a:solidFill>
                  <a:schemeClr val="tx1"/>
                </a:solidFill>
                <a:latin typeface="Arial" panose="020B0604020202020204" pitchFamily="34" charset="0"/>
                <a:cs typeface="Arial" panose="020B0604020202020204" pitchFamily="34" charset="0"/>
                <a:sym typeface="Wingdings" pitchFamily="2" charset="2"/>
              </a:rPr>
              <a:t> = 2.38, </a:t>
            </a:r>
          </a:p>
          <a:p>
            <a:pPr algn="just"/>
            <a:r>
              <a:rPr lang="en-US" sz="1100" dirty="0" err="1">
                <a:solidFill>
                  <a:schemeClr val="tx1"/>
                </a:solidFill>
                <a:latin typeface="Arial" panose="020B0604020202020204" pitchFamily="34" charset="0"/>
                <a:cs typeface="Arial" panose="020B0604020202020204" pitchFamily="34" charset="0"/>
                <a:sym typeface="Wingdings" pitchFamily="2" charset="2"/>
              </a:rPr>
              <a:t>n_g</a:t>
            </a:r>
            <a:r>
              <a:rPr lang="en-US" sz="1100" dirty="0">
                <a:solidFill>
                  <a:schemeClr val="tx1"/>
                </a:solidFill>
                <a:latin typeface="Arial" panose="020B0604020202020204" pitchFamily="34" charset="0"/>
                <a:cs typeface="Arial" panose="020B0604020202020204" pitchFamily="34" charset="0"/>
                <a:sym typeface="Wingdings" pitchFamily="2" charset="2"/>
              </a:rPr>
              <a:t> = 4.25, </a:t>
            </a:r>
          </a:p>
          <a:p>
            <a:pPr algn="just"/>
            <a:r>
              <a:rPr lang="en-US" sz="1100" dirty="0">
                <a:solidFill>
                  <a:schemeClr val="tx1"/>
                </a:solidFill>
                <a:latin typeface="Arial" panose="020B0604020202020204" pitchFamily="34" charset="0"/>
                <a:cs typeface="Arial" panose="020B0604020202020204" pitchFamily="34" charset="0"/>
                <a:sym typeface="Wingdings" pitchFamily="2" charset="2"/>
              </a:rPr>
              <a:t>D=0,</a:t>
            </a:r>
          </a:p>
          <a:p>
            <a:pPr algn="just"/>
            <a:r>
              <a:rPr lang="en-US" sz="1100" dirty="0" err="1">
                <a:solidFill>
                  <a:schemeClr val="tx1"/>
                </a:solidFill>
                <a:latin typeface="Arial" panose="020B0604020202020204" pitchFamily="34" charset="0"/>
                <a:cs typeface="Arial" panose="020B0604020202020204" pitchFamily="34" charset="0"/>
                <a:sym typeface="Wingdings" pitchFamily="2" charset="2"/>
              </a:rPr>
              <a:t>L_base</a:t>
            </a:r>
            <a:r>
              <a:rPr lang="en-US" sz="1100" dirty="0">
                <a:solidFill>
                  <a:schemeClr val="tx1"/>
                </a:solidFill>
                <a:latin typeface="Arial" panose="020B0604020202020204" pitchFamily="34" charset="0"/>
                <a:cs typeface="Arial" panose="020B0604020202020204" pitchFamily="34" charset="0"/>
                <a:sym typeface="Wingdings" pitchFamily="2" charset="2"/>
              </a:rPr>
              <a:t>=1000</a:t>
            </a:r>
          </a:p>
          <a:p>
            <a:pPr algn="just"/>
            <a:r>
              <a:rPr lang="en-US" sz="1100" dirty="0">
                <a:solidFill>
                  <a:schemeClr val="tx1"/>
                </a:solidFill>
                <a:latin typeface="Arial" panose="020B0604020202020204" pitchFamily="34" charset="0"/>
                <a:cs typeface="Arial" panose="020B0604020202020204" pitchFamily="34" charset="0"/>
                <a:sym typeface="Wingdings" pitchFamily="2" charset="2"/>
              </a:rPr>
              <a:t>dL = </a:t>
            </a:r>
            <a:r>
              <a:rPr lang="en-US" sz="1100" dirty="0" err="1">
                <a:solidFill>
                  <a:schemeClr val="tx1"/>
                </a:solidFill>
                <a:latin typeface="Arial" panose="020B0604020202020204" pitchFamily="34" charset="0"/>
                <a:cs typeface="Arial" panose="020B0604020202020204" pitchFamily="34" charset="0"/>
                <a:sym typeface="Wingdings" pitchFamily="2" charset="2"/>
              </a:rPr>
              <a:t>L_base</a:t>
            </a:r>
            <a:r>
              <a:rPr lang="en-US" sz="1100" dirty="0">
                <a:solidFill>
                  <a:schemeClr val="tx1"/>
                </a:solidFill>
                <a:latin typeface="Arial" panose="020B0604020202020204" pitchFamily="34" charset="0"/>
                <a:cs typeface="Arial" panose="020B0604020202020204" pitchFamily="34" charset="0"/>
                <a:sym typeface="Wingdings" pitchFamily="2" charset="2"/>
              </a:rPr>
              <a:t> + 55960.0840224255;</a:t>
            </a:r>
          </a:p>
          <a:p>
            <a:pPr algn="just"/>
            <a:r>
              <a:rPr lang="en-US" sz="1100" dirty="0">
                <a:solidFill>
                  <a:schemeClr val="tx1"/>
                </a:solidFill>
                <a:latin typeface="Arial" panose="020B0604020202020204" pitchFamily="34" charset="0"/>
                <a:cs typeface="Arial" panose="020B0604020202020204" pitchFamily="34" charset="0"/>
                <a:sym typeface="Wingdings" pitchFamily="2" charset="2"/>
              </a:rPr>
              <a:t>loss = 4 dB / cm</a:t>
            </a:r>
          </a:p>
          <a:p>
            <a:pPr algn="just"/>
            <a:r>
              <a:rPr lang="en-US" sz="1100" b="1" dirty="0">
                <a:solidFill>
                  <a:schemeClr val="tx1"/>
                </a:solidFill>
                <a:latin typeface="Arial" panose="020B0604020202020204" pitchFamily="34" charset="0"/>
                <a:cs typeface="Arial" panose="020B0604020202020204" pitchFamily="34" charset="0"/>
                <a:sym typeface="Wingdings" pitchFamily="2" charset="2"/>
              </a:rPr>
              <a:t>Case 1</a:t>
            </a:r>
            <a:r>
              <a:rPr lang="en-US" sz="1100" dirty="0">
                <a:solidFill>
                  <a:schemeClr val="tx1"/>
                </a:solidFill>
                <a:latin typeface="Arial" panose="020B0604020202020204" pitchFamily="34" charset="0"/>
                <a:cs typeface="Arial" panose="020B0604020202020204" pitchFamily="34" charset="0"/>
                <a:sym typeface="Wingdings" pitchFamily="2" charset="2"/>
              </a:rPr>
              <a:t>. Simulate for Ka = </a:t>
            </a:r>
            <a:r>
              <a:rPr lang="en-US" sz="1100" dirty="0" err="1">
                <a:solidFill>
                  <a:schemeClr val="tx1"/>
                </a:solidFill>
                <a:latin typeface="Arial" panose="020B0604020202020204" pitchFamily="34" charset="0"/>
                <a:cs typeface="Arial" panose="020B0604020202020204" pitchFamily="34" charset="0"/>
                <a:sym typeface="Wingdings" pitchFamily="2" charset="2"/>
              </a:rPr>
              <a:t>Kb</a:t>
            </a:r>
            <a:r>
              <a:rPr lang="en-US" sz="1100" dirty="0">
                <a:solidFill>
                  <a:schemeClr val="tx1"/>
                </a:solidFill>
                <a:latin typeface="Arial" panose="020B0604020202020204" pitchFamily="34" charset="0"/>
                <a:cs typeface="Arial" panose="020B0604020202020204" pitchFamily="34" charset="0"/>
                <a:sym typeface="Wingdings" pitchFamily="2" charset="2"/>
              </a:rPr>
              <a:t> = 0.5 for all </a:t>
            </a:r>
            <a:r>
              <a:rPr lang="en-US" sz="1100" dirty="0" err="1">
                <a:solidFill>
                  <a:schemeClr val="tx1"/>
                </a:solidFill>
                <a:latin typeface="Arial" panose="020B0604020202020204" pitchFamily="34" charset="0"/>
                <a:cs typeface="Arial" panose="020B0604020202020204" pitchFamily="34" charset="0"/>
                <a:sym typeface="Wingdings" pitchFamily="2" charset="2"/>
              </a:rPr>
              <a:t>wvl</a:t>
            </a:r>
            <a:endParaRPr lang="en-US" sz="1100" dirty="0">
              <a:solidFill>
                <a:schemeClr val="tx1"/>
              </a:solidFill>
              <a:latin typeface="Arial" panose="020B0604020202020204" pitchFamily="34" charset="0"/>
              <a:cs typeface="Arial" panose="020B0604020202020204" pitchFamily="34" charset="0"/>
              <a:sym typeface="Wingdings" pitchFamily="2" charset="2"/>
            </a:endParaRPr>
          </a:p>
          <a:p>
            <a:pPr algn="just"/>
            <a:r>
              <a:rPr lang="en-US" sz="1100" b="1" dirty="0">
                <a:solidFill>
                  <a:schemeClr val="tx1"/>
                </a:solidFill>
                <a:latin typeface="Arial" panose="020B0604020202020204" pitchFamily="34" charset="0"/>
                <a:cs typeface="Arial" panose="020B0604020202020204" pitchFamily="34" charset="0"/>
                <a:sym typeface="Wingdings" pitchFamily="2" charset="2"/>
              </a:rPr>
              <a:t>Case 2</a:t>
            </a:r>
            <a:r>
              <a:rPr lang="en-US" sz="1100" dirty="0">
                <a:solidFill>
                  <a:schemeClr val="tx1"/>
                </a:solidFill>
                <a:latin typeface="Arial" panose="020B0604020202020204" pitchFamily="34" charset="0"/>
                <a:cs typeface="Arial" panose="020B0604020202020204" pitchFamily="34" charset="0"/>
                <a:sym typeface="Wingdings" pitchFamily="2" charset="2"/>
              </a:rPr>
              <a:t>. Simulate for Ka=0.1 for all </a:t>
            </a:r>
            <a:r>
              <a:rPr lang="en-US" sz="1100" dirty="0" err="1">
                <a:solidFill>
                  <a:schemeClr val="tx1"/>
                </a:solidFill>
                <a:latin typeface="Arial" panose="020B0604020202020204" pitchFamily="34" charset="0"/>
                <a:cs typeface="Arial" panose="020B0604020202020204" pitchFamily="34" charset="0"/>
                <a:sym typeface="Wingdings" pitchFamily="2" charset="2"/>
              </a:rPr>
              <a:t>wvl</a:t>
            </a:r>
            <a:endParaRPr lang="en-US" sz="1100" dirty="0">
              <a:solidFill>
                <a:schemeClr val="tx1"/>
              </a:solidFill>
              <a:latin typeface="Arial" panose="020B0604020202020204" pitchFamily="34" charset="0"/>
              <a:cs typeface="Arial" panose="020B0604020202020204" pitchFamily="34" charset="0"/>
              <a:sym typeface="Wingdings" pitchFamily="2" charset="2"/>
            </a:endParaRPr>
          </a:p>
          <a:p>
            <a:pPr algn="just"/>
            <a:r>
              <a:rPr lang="en-US" sz="1100" dirty="0" err="1">
                <a:solidFill>
                  <a:schemeClr val="tx1"/>
                </a:solidFill>
                <a:latin typeface="Arial" panose="020B0604020202020204" pitchFamily="34" charset="0"/>
                <a:cs typeface="Arial" panose="020B0604020202020204" pitchFamily="34" charset="0"/>
                <a:sym typeface="Wingdings" pitchFamily="2" charset="2"/>
              </a:rPr>
              <a:t>Kb</a:t>
            </a:r>
            <a:r>
              <a:rPr lang="en-US" sz="1100" dirty="0">
                <a:solidFill>
                  <a:schemeClr val="tx1"/>
                </a:solidFill>
                <a:latin typeface="Arial" panose="020B0604020202020204" pitchFamily="34" charset="0"/>
                <a:cs typeface="Arial" panose="020B0604020202020204" pitchFamily="34" charset="0"/>
                <a:sym typeface="Wingdings" pitchFamily="2" charset="2"/>
              </a:rPr>
              <a:t>=0.5 for all </a:t>
            </a:r>
            <a:r>
              <a:rPr lang="en-US" sz="1100" dirty="0" err="1">
                <a:solidFill>
                  <a:schemeClr val="tx1"/>
                </a:solidFill>
                <a:latin typeface="Arial" panose="020B0604020202020204" pitchFamily="34" charset="0"/>
                <a:cs typeface="Arial" panose="020B0604020202020204" pitchFamily="34" charset="0"/>
                <a:sym typeface="Wingdings" pitchFamily="2" charset="2"/>
              </a:rPr>
              <a:t>wvl</a:t>
            </a:r>
            <a:endParaRPr lang="en-US" sz="1100" dirty="0">
              <a:solidFill>
                <a:schemeClr val="tx1"/>
              </a:solidFill>
              <a:latin typeface="Arial" panose="020B0604020202020204" pitchFamily="34" charset="0"/>
              <a:cs typeface="Arial" panose="020B0604020202020204" pitchFamily="34" charset="0"/>
            </a:endParaRPr>
          </a:p>
        </p:txBody>
      </p:sp>
      <p:sp>
        <p:nvSpPr>
          <p:cNvPr id="3" name="Rectángulo 2">
            <a:extLst>
              <a:ext uri="{FF2B5EF4-FFF2-40B4-BE49-F238E27FC236}">
                <a16:creationId xmlns:a16="http://schemas.microsoft.com/office/drawing/2014/main" id="{2E647D59-9E7E-290A-DA5A-23DD91E7CF31}"/>
              </a:ext>
            </a:extLst>
          </p:cNvPr>
          <p:cNvSpPr/>
          <p:nvPr/>
        </p:nvSpPr>
        <p:spPr>
          <a:xfrm>
            <a:off x="4943506" y="1418493"/>
            <a:ext cx="4810094"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Imagen 10">
            <a:extLst>
              <a:ext uri="{FF2B5EF4-FFF2-40B4-BE49-F238E27FC236}">
                <a16:creationId xmlns:a16="http://schemas.microsoft.com/office/drawing/2014/main" id="{0F9A665A-5FF1-0B93-3875-3ABA03BCB204}"/>
              </a:ext>
            </a:extLst>
          </p:cNvPr>
          <p:cNvPicPr>
            <a:picLocks noChangeAspect="1"/>
          </p:cNvPicPr>
          <p:nvPr/>
        </p:nvPicPr>
        <p:blipFill>
          <a:blip r:embed="rId3"/>
          <a:stretch>
            <a:fillRect/>
          </a:stretch>
        </p:blipFill>
        <p:spPr>
          <a:xfrm>
            <a:off x="352519" y="1694009"/>
            <a:ext cx="4417149" cy="2754755"/>
          </a:xfrm>
          <a:prstGeom prst="rect">
            <a:avLst/>
          </a:prstGeom>
        </p:spPr>
      </p:pic>
      <p:pic>
        <p:nvPicPr>
          <p:cNvPr id="14" name="Imagen 13">
            <a:extLst>
              <a:ext uri="{FF2B5EF4-FFF2-40B4-BE49-F238E27FC236}">
                <a16:creationId xmlns:a16="http://schemas.microsoft.com/office/drawing/2014/main" id="{5D735C63-27B2-8727-B3DA-952A91717AAC}"/>
              </a:ext>
            </a:extLst>
          </p:cNvPr>
          <p:cNvPicPr>
            <a:picLocks noChangeAspect="1"/>
          </p:cNvPicPr>
          <p:nvPr/>
        </p:nvPicPr>
        <p:blipFill>
          <a:blip r:embed="rId4"/>
          <a:stretch>
            <a:fillRect/>
          </a:stretch>
        </p:blipFill>
        <p:spPr>
          <a:xfrm>
            <a:off x="5017440" y="1720163"/>
            <a:ext cx="4659960" cy="2702446"/>
          </a:xfrm>
          <a:prstGeom prst="rect">
            <a:avLst/>
          </a:prstGeom>
        </p:spPr>
      </p:pic>
      <p:sp>
        <p:nvSpPr>
          <p:cNvPr id="15" name="CuadroTexto 14">
            <a:extLst>
              <a:ext uri="{FF2B5EF4-FFF2-40B4-BE49-F238E27FC236}">
                <a16:creationId xmlns:a16="http://schemas.microsoft.com/office/drawing/2014/main" id="{47459BD4-536A-E63A-6C6C-F5BEE4AD59FA}"/>
              </a:ext>
            </a:extLst>
          </p:cNvPr>
          <p:cNvSpPr txBox="1"/>
          <p:nvPr/>
        </p:nvSpPr>
        <p:spPr>
          <a:xfrm>
            <a:off x="260931" y="4953000"/>
            <a:ext cx="4600326" cy="369332"/>
          </a:xfrm>
          <a:prstGeom prst="rect">
            <a:avLst/>
          </a:prstGeom>
          <a:noFill/>
        </p:spPr>
        <p:txBody>
          <a:bodyPr wrap="square" rtlCol="0">
            <a:spAutoFit/>
          </a:bodyPr>
          <a:lstStyle/>
          <a:p>
            <a:pPr algn="ctr"/>
            <a:r>
              <a:rPr lang="es-ES" dirty="0"/>
              <a:t>Caso 1: Ka=Kb=0.5</a:t>
            </a:r>
          </a:p>
        </p:txBody>
      </p:sp>
      <p:sp>
        <p:nvSpPr>
          <p:cNvPr id="16" name="CuadroTexto 15">
            <a:extLst>
              <a:ext uri="{FF2B5EF4-FFF2-40B4-BE49-F238E27FC236}">
                <a16:creationId xmlns:a16="http://schemas.microsoft.com/office/drawing/2014/main" id="{770C2A44-7470-9814-1794-F19C38DC7BE6}"/>
              </a:ext>
            </a:extLst>
          </p:cNvPr>
          <p:cNvSpPr txBox="1"/>
          <p:nvPr/>
        </p:nvSpPr>
        <p:spPr>
          <a:xfrm>
            <a:off x="4878182" y="4939340"/>
            <a:ext cx="4600326" cy="369332"/>
          </a:xfrm>
          <a:prstGeom prst="rect">
            <a:avLst/>
          </a:prstGeom>
          <a:noFill/>
        </p:spPr>
        <p:txBody>
          <a:bodyPr wrap="square" rtlCol="0">
            <a:spAutoFit/>
          </a:bodyPr>
          <a:lstStyle/>
          <a:p>
            <a:pPr algn="ctr"/>
            <a:r>
              <a:rPr lang="es-ES" dirty="0"/>
              <a:t>Caso 2: Ka=0.1 ; Kb=0.5</a:t>
            </a:r>
          </a:p>
        </p:txBody>
      </p:sp>
    </p:spTree>
    <p:extLst>
      <p:ext uri="{BB962C8B-B14F-4D97-AF65-F5344CB8AC3E}">
        <p14:creationId xmlns:p14="http://schemas.microsoft.com/office/powerpoint/2010/main" val="14757106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1488C-2A9B-E0BC-2E2F-5DB474E2433C}"/>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5C2F6524-94AD-5545-93C4-FE323D87C634}"/>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A852D8A4-A532-0315-4C90-0EEA2D6169A9}"/>
              </a:ext>
            </a:extLst>
          </p:cNvPr>
          <p:cNvSpPr>
            <a:spLocks noGrp="1"/>
          </p:cNvSpPr>
          <p:nvPr>
            <p:ph type="sldNum" sz="quarter" idx="7"/>
          </p:nvPr>
        </p:nvSpPr>
        <p:spPr/>
        <p:txBody>
          <a:bodyPr/>
          <a:lstStyle/>
          <a:p>
            <a:fld id="{C2F52289-4012-4053-9770-FE82CEB9514F}" type="slidenum">
              <a:rPr lang="en-US" smtClean="0"/>
              <a:pPr/>
              <a:t>10</a:t>
            </a:fld>
            <a:endParaRPr lang="en-US" dirty="0"/>
          </a:p>
        </p:txBody>
      </p:sp>
      <p:pic>
        <p:nvPicPr>
          <p:cNvPr id="10" name="Gráfico 9">
            <a:extLst>
              <a:ext uri="{FF2B5EF4-FFF2-40B4-BE49-F238E27FC236}">
                <a16:creationId xmlns:a16="http://schemas.microsoft.com/office/drawing/2014/main" id="{FE2CA7EF-F040-C1FF-B2E2-4316BDE864E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DB03CF09-E109-DDEA-EE00-FF7E4605F8D9}"/>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#3 – Delay imbalance with loss</a:t>
            </a:r>
          </a:p>
          <a:p>
            <a:pPr marL="12700">
              <a:spcBef>
                <a:spcPts val="100"/>
              </a:spcBef>
            </a:pPr>
            <a:r>
              <a:rPr lang="en-US" b="0" kern="0" spc="-5" dirty="0">
                <a:latin typeface="+mj-lt"/>
                <a:cs typeface="Lucida Sans"/>
              </a:rPr>
              <a:t>Fringe visibility</a:t>
            </a:r>
            <a:endParaRPr lang="en-US" b="0" kern="0" dirty="0">
              <a:latin typeface="+mj-lt"/>
              <a:cs typeface="Lucida Sans"/>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7E1CFA5-0DC4-5ECA-47AF-DD93CAB9D72D}"/>
                  </a:ext>
                </a:extLst>
              </p:cNvPr>
              <p:cNvSpPr txBox="1"/>
              <p:nvPr/>
            </p:nvSpPr>
            <p:spPr>
              <a:xfrm>
                <a:off x="583019" y="1371600"/>
                <a:ext cx="11199971" cy="4524315"/>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b="1" i="1"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Comment results: describe the transfer function, is there any interference pattern in case 1? Is there any interference pattern in case 2? Explain the difference between both cases. Compare the Extinction Ratio of both variations. </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Para este apartado, vemos que en los dos casos aparece un patrón de interferencia, pero con poco contraste porque uno de los brazos es mucho más largo y tiene más pérdidas. Al llegar las dos señales al acoplador de salida, no tienen la misma amplitud, así que la cancelación no es completa y los mínimos no bajan tanto como en los casos anteriores.</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el caso 1 </a:t>
                </a:r>
                <a14:m>
                  <m:oMath xmlns:m="http://schemas.openxmlformats.org/officeDocument/2006/math">
                    <m:d>
                      <m:dPr>
                        <m:ctrlPr>
                          <a:rPr lang="ar-AE" sz="1200" i="1">
                            <a:latin typeface="Cambria Math" panose="02040503050406030204" pitchFamily="18" charset="0"/>
                          </a:rPr>
                        </m:ctrlPr>
                      </m:dPr>
                      <m:e>
                        <m:sSub>
                          <m:sSubPr>
                            <m:ctrlPr>
                              <a:rPr lang="ar-AE" sz="1200" i="1">
                                <a:latin typeface="Cambria Math" panose="02040503050406030204" pitchFamily="18" charset="0"/>
                              </a:rPr>
                            </m:ctrlPr>
                          </m:sSubPr>
                          <m:e>
                            <m:r>
                              <m:rPr>
                                <m:sty m:val="p"/>
                              </m:rPr>
                              <a:rPr lang="ar-AE" sz="1200" b="0" i="0" smtClean="0">
                                <a:latin typeface="Cambria Math" panose="02040503050406030204" pitchFamily="18" charset="0"/>
                              </a:rPr>
                              <m:t>K</m:t>
                            </m:r>
                          </m:e>
                          <m:sub>
                            <m:r>
                              <m:rPr>
                                <m:sty m:val="p"/>
                              </m:rPr>
                              <a:rPr lang="ar-AE" sz="1200" b="0" i="0" smtClean="0">
                                <a:latin typeface="Cambria Math" panose="02040503050406030204" pitchFamily="18" charset="0"/>
                              </a:rPr>
                              <m:t>a</m:t>
                            </m:r>
                          </m:sub>
                        </m:sSub>
                        <m:r>
                          <a:rPr lang="ar-AE" sz="1200" b="0" i="0" smtClean="0">
                            <a:latin typeface="Cambria Math" panose="02040503050406030204" pitchFamily="18" charset="0"/>
                          </a:rPr>
                          <m:t>=</m:t>
                        </m:r>
                        <m:sSub>
                          <m:sSubPr>
                            <m:ctrlPr>
                              <a:rPr lang="ar-AE" sz="1200" i="1">
                                <a:latin typeface="Cambria Math" panose="02040503050406030204" pitchFamily="18" charset="0"/>
                              </a:rPr>
                            </m:ctrlPr>
                          </m:sSubPr>
                          <m:e>
                            <m:r>
                              <m:rPr>
                                <m:sty m:val="p"/>
                              </m:rPr>
                              <a:rPr lang="ar-AE" sz="1200" b="0" i="0" smtClean="0">
                                <a:latin typeface="Cambria Math" panose="02040503050406030204" pitchFamily="18" charset="0"/>
                              </a:rPr>
                              <m:t>K</m:t>
                            </m:r>
                          </m:e>
                          <m:sub>
                            <m:r>
                              <m:rPr>
                                <m:sty m:val="p"/>
                              </m:rPr>
                              <a:rPr lang="ar-AE" sz="1200" b="0" i="0" smtClean="0">
                                <a:latin typeface="Cambria Math" panose="02040503050406030204" pitchFamily="18" charset="0"/>
                              </a:rPr>
                              <m:t>b</m:t>
                            </m:r>
                          </m:sub>
                        </m:sSub>
                        <m:r>
                          <a:rPr lang="ar-AE" sz="1200" b="0" i="0" smtClean="0">
                            <a:latin typeface="Cambria Math" panose="02040503050406030204" pitchFamily="18" charset="0"/>
                          </a:rPr>
                          <m:t>=</m:t>
                        </m:r>
                        <m:r>
                          <a:rPr lang="ar-AE" sz="1200" b="0" i="0" smtClean="0">
                            <a:latin typeface="Cambria Math" panose="02040503050406030204" pitchFamily="18" charset="0"/>
                          </a:rPr>
                          <m:t>0</m:t>
                        </m:r>
                        <m:r>
                          <a:rPr lang="ar-AE" sz="1200" b="0" i="0" smtClean="0">
                            <a:latin typeface="Cambria Math" panose="02040503050406030204" pitchFamily="18" charset="0"/>
                          </a:rPr>
                          <m:t>.</m:t>
                        </m:r>
                        <m:r>
                          <a:rPr lang="ar-AE" sz="1200" b="0" i="0" smtClean="0">
                            <a:latin typeface="Cambria Math" panose="02040503050406030204" pitchFamily="18" charset="0"/>
                          </a:rPr>
                          <m:t>5</m:t>
                        </m:r>
                      </m:e>
                    </m:d>
                  </m:oMath>
                </a14:m>
                <a:r>
                  <a:rPr lang="ar-AE" sz="1200" dirty="0">
                    <a:latin typeface="Arial" panose="020B0604020202020204" pitchFamily="34" charset="0"/>
                    <a:cs typeface="Arial" panose="020B0604020202020204" pitchFamily="34" charset="0"/>
                  </a:rPr>
                  <a:t>, </a:t>
                </a:r>
                <a:r>
                  <a:rPr lang="es-ES" sz="1200" dirty="0">
                    <a:latin typeface="Arial" panose="020B0604020202020204" pitchFamily="34" charset="0"/>
                    <a:cs typeface="Arial" panose="020B0604020202020204" pitchFamily="34" charset="0"/>
                  </a:rPr>
                  <a:t>las oscilaciones son más marcadas porque el reparto de potencia de entrada es más equilibrado. Aunque el brazo largo pierde más potencia, las amplitudes que llegan al final siguen siendo más parecidas que en el caso 2. Por eso el radio de extinción es mayor:</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	ER = </a:t>
                </a:r>
                <a:r>
                  <a:rPr lang="es-ES" sz="1200" dirty="0" err="1">
                    <a:latin typeface="Arial" panose="020B0604020202020204" pitchFamily="34" charset="0"/>
                    <a:cs typeface="Arial" panose="020B0604020202020204" pitchFamily="34" charset="0"/>
                  </a:rPr>
                  <a:t>Pmáx</a:t>
                </a:r>
                <a:r>
                  <a:rPr lang="es-ES" sz="1200" dirty="0">
                    <a:latin typeface="Arial" panose="020B0604020202020204" pitchFamily="34" charset="0"/>
                    <a:cs typeface="Arial" panose="020B0604020202020204" pitchFamily="34" charset="0"/>
                  </a:rPr>
                  <a:t> – </a:t>
                </a:r>
                <a:r>
                  <a:rPr lang="es-ES" sz="1200" dirty="0" err="1">
                    <a:latin typeface="Arial" panose="020B0604020202020204" pitchFamily="34" charset="0"/>
                    <a:cs typeface="Arial" panose="020B0604020202020204" pitchFamily="34" charset="0"/>
                  </a:rPr>
                  <a:t>Pmín</a:t>
                </a:r>
                <a:r>
                  <a:rPr lang="es-ES" sz="1200" dirty="0">
                    <a:latin typeface="Arial" panose="020B0604020202020204" pitchFamily="34" charset="0"/>
                    <a:cs typeface="Arial" panose="020B0604020202020204" pitchFamily="34" charset="0"/>
                  </a:rPr>
                  <a:t> = -5.75 dB – (-7.1 dB) = 1.35 dB</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el caso 2 </a:t>
                </a:r>
                <a14:m>
                  <m:oMath xmlns:m="http://schemas.openxmlformats.org/officeDocument/2006/math">
                    <m:d>
                      <m:dPr>
                        <m:sepChr m:val=","/>
                        <m:ctrlPr>
                          <a:rPr lang="ar-AE" sz="1200" i="1">
                            <a:latin typeface="Cambria Math" panose="02040503050406030204" pitchFamily="18" charset="0"/>
                          </a:rPr>
                        </m:ctrlPr>
                      </m:dPr>
                      <m:e>
                        <m:sSub>
                          <m:sSubPr>
                            <m:ctrlPr>
                              <a:rPr lang="ar-AE" sz="1200" i="1">
                                <a:latin typeface="Cambria Math" panose="02040503050406030204" pitchFamily="18" charset="0"/>
                              </a:rPr>
                            </m:ctrlPr>
                          </m:sSubPr>
                          <m:e>
                            <m:r>
                              <m:rPr>
                                <m:sty m:val="p"/>
                              </m:rPr>
                              <a:rPr lang="ar-AE" sz="1200" b="0" i="0" smtClean="0">
                                <a:latin typeface="Cambria Math" panose="02040503050406030204" pitchFamily="18" charset="0"/>
                              </a:rPr>
                              <m:t>K</m:t>
                            </m:r>
                          </m:e>
                          <m:sub>
                            <m:r>
                              <m:rPr>
                                <m:sty m:val="p"/>
                              </m:rPr>
                              <a:rPr lang="ar-AE" sz="1200" b="0" i="0" smtClean="0">
                                <a:latin typeface="Cambria Math" panose="02040503050406030204" pitchFamily="18" charset="0"/>
                              </a:rPr>
                              <m:t>a</m:t>
                            </m:r>
                          </m:sub>
                        </m:sSub>
                      </m:e>
                      <m:e>
                        <m:r>
                          <a:rPr lang="ar-AE" sz="1200" b="0" i="0" smtClean="0">
                            <a:latin typeface="Cambria Math" panose="02040503050406030204" pitchFamily="18" charset="0"/>
                          </a:rPr>
                          <m:t>=</m:t>
                        </m:r>
                        <m:r>
                          <a:rPr lang="ar-AE" sz="1200" b="0" i="0" smtClean="0">
                            <a:latin typeface="Cambria Math" panose="02040503050406030204" pitchFamily="18" charset="0"/>
                          </a:rPr>
                          <m:t>0</m:t>
                        </m:r>
                        <m:r>
                          <a:rPr lang="ar-AE" sz="1200" b="0" i="0" smtClean="0">
                            <a:latin typeface="Cambria Math" panose="02040503050406030204" pitchFamily="18" charset="0"/>
                          </a:rPr>
                          <m:t>.</m:t>
                        </m:r>
                        <m:r>
                          <a:rPr lang="ar-AE" sz="1200" b="0" i="0" smtClean="0">
                            <a:latin typeface="Cambria Math" panose="02040503050406030204" pitchFamily="18" charset="0"/>
                          </a:rPr>
                          <m:t>1</m:t>
                        </m:r>
                        <m:r>
                          <m:rPr>
                            <m:nor/>
                          </m:rPr>
                          <a:rPr lang="ar-AE" sz="1200">
                            <a:latin typeface="Arial" panose="020B0604020202020204" pitchFamily="34" charset="0"/>
                            <a:cs typeface="Arial" panose="020B0604020202020204" pitchFamily="34" charset="0"/>
                          </a:rPr>
                          <m:t> </m:t>
                        </m:r>
                        <m:sSub>
                          <m:sSubPr>
                            <m:ctrlPr>
                              <a:rPr lang="ar-AE" sz="1200" i="1">
                                <a:latin typeface="Cambria Math" panose="02040503050406030204" pitchFamily="18" charset="0"/>
                              </a:rPr>
                            </m:ctrlPr>
                          </m:sSubPr>
                          <m:e>
                            <m:r>
                              <m:rPr>
                                <m:sty m:val="p"/>
                              </m:rPr>
                              <a:rPr lang="ar-AE" sz="1200" b="0" i="0" smtClean="0">
                                <a:latin typeface="Cambria Math" panose="02040503050406030204" pitchFamily="18" charset="0"/>
                              </a:rPr>
                              <m:t>K</m:t>
                            </m:r>
                          </m:e>
                          <m:sub>
                            <m:r>
                              <m:rPr>
                                <m:sty m:val="p"/>
                              </m:rPr>
                              <a:rPr lang="ar-AE" sz="1200" b="0" i="0" smtClean="0">
                                <a:latin typeface="Cambria Math" panose="02040503050406030204" pitchFamily="18" charset="0"/>
                              </a:rPr>
                              <m:t>b</m:t>
                            </m:r>
                          </m:sub>
                        </m:sSub>
                        <m:r>
                          <a:rPr lang="ar-AE" sz="1200" b="0" i="0" smtClean="0">
                            <a:latin typeface="Cambria Math" panose="02040503050406030204" pitchFamily="18" charset="0"/>
                          </a:rPr>
                          <m:t>=</m:t>
                        </m:r>
                        <m:r>
                          <a:rPr lang="ar-AE" sz="1200" b="0" i="0" smtClean="0">
                            <a:latin typeface="Cambria Math" panose="02040503050406030204" pitchFamily="18" charset="0"/>
                          </a:rPr>
                          <m:t>0</m:t>
                        </m:r>
                        <m:r>
                          <a:rPr lang="ar-AE" sz="1200" b="0" i="0" smtClean="0">
                            <a:latin typeface="Cambria Math" panose="02040503050406030204" pitchFamily="18" charset="0"/>
                          </a:rPr>
                          <m:t>.</m:t>
                        </m:r>
                        <m:r>
                          <a:rPr lang="ar-AE" sz="1200" b="0" i="0" smtClean="0">
                            <a:latin typeface="Cambria Math" panose="02040503050406030204" pitchFamily="18" charset="0"/>
                          </a:rPr>
                          <m:t>5</m:t>
                        </m:r>
                      </m:e>
                    </m:d>
                    <m:r>
                      <a:rPr lang="es-ES" sz="1200" b="0" i="0" smtClean="0">
                        <a:latin typeface="Cambria Math" panose="02040503050406030204" pitchFamily="18" charset="0"/>
                      </a:rPr>
                      <m:t>, </m:t>
                    </m:r>
                  </m:oMath>
                </a14:m>
                <a:r>
                  <a:rPr lang="es-ES" sz="1200" dirty="0">
                    <a:latin typeface="Arial" panose="020B0604020202020204" pitchFamily="34" charset="0"/>
                    <a:cs typeface="Arial" panose="020B0604020202020204" pitchFamily="34" charset="0"/>
                  </a:rPr>
                  <a:t>también hay interferencia, pero las oscilaciones son más pequeñas. Al cambiar </a:t>
                </a:r>
                <a14:m>
                  <m:oMath xmlns:m="http://schemas.openxmlformats.org/officeDocument/2006/math">
                    <m:sSub>
                      <m:sSubPr>
                        <m:ctrlPr>
                          <a:rPr lang="ar-AE" sz="1200" i="1">
                            <a:latin typeface="Cambria Math" panose="02040503050406030204" pitchFamily="18" charset="0"/>
                          </a:rPr>
                        </m:ctrlPr>
                      </m:sSubPr>
                      <m:e>
                        <m:r>
                          <a:rPr lang="ar-AE" sz="1200" b="0" i="1" smtClean="0">
                            <a:latin typeface="Cambria Math" panose="02040503050406030204" pitchFamily="18" charset="0"/>
                          </a:rPr>
                          <m:t>𝐾</m:t>
                        </m:r>
                      </m:e>
                      <m:sub>
                        <m:r>
                          <a:rPr lang="ar-AE" sz="1200" b="0" i="1" smtClean="0">
                            <a:latin typeface="Cambria Math" panose="02040503050406030204" pitchFamily="18" charset="0"/>
                          </a:rPr>
                          <m:t>𝑎</m:t>
                        </m:r>
                      </m:sub>
                    </m:sSub>
                  </m:oMath>
                </a14:m>
                <a:r>
                  <a:rPr lang="ar-AE" sz="1200" dirty="0">
                    <a:latin typeface="Arial" panose="020B0604020202020204" pitchFamily="34" charset="0"/>
                    <a:cs typeface="Arial" panose="020B0604020202020204" pitchFamily="34" charset="0"/>
                  </a:rPr>
                  <a:t>, </a:t>
                </a:r>
                <a:r>
                  <a:rPr lang="es-ES" sz="1200" dirty="0">
                    <a:latin typeface="Arial" panose="020B0604020202020204" pitchFamily="34" charset="0"/>
                    <a:cs typeface="Arial" panose="020B0604020202020204" pitchFamily="34" charset="0"/>
                  </a:rPr>
                  <a:t>la potencia se reparte de forma más desigual entre los brazos y no se compensan bien las pérdidas del brazo largo. Por eso los máximos y mínimos están más cerca y el radio de extinción es menor:</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	ER = </a:t>
                </a:r>
                <a:r>
                  <a:rPr lang="es-ES" sz="1200" dirty="0" err="1">
                    <a:latin typeface="Arial" panose="020B0604020202020204" pitchFamily="34" charset="0"/>
                    <a:cs typeface="Arial" panose="020B0604020202020204" pitchFamily="34" charset="0"/>
                  </a:rPr>
                  <a:t>Pmáx</a:t>
                </a:r>
                <a:r>
                  <a:rPr lang="es-ES" sz="1200" dirty="0">
                    <a:latin typeface="Arial" panose="020B0604020202020204" pitchFamily="34" charset="0"/>
                    <a:cs typeface="Arial" panose="020B0604020202020204" pitchFamily="34" charset="0"/>
                  </a:rPr>
                  <a:t> – </a:t>
                </a:r>
                <a:r>
                  <a:rPr lang="es-ES" sz="1200" dirty="0" err="1">
                    <a:latin typeface="Arial" panose="020B0604020202020204" pitchFamily="34" charset="0"/>
                    <a:cs typeface="Arial" panose="020B0604020202020204" pitchFamily="34" charset="0"/>
                  </a:rPr>
                  <a:t>Pmín</a:t>
                </a:r>
                <a:r>
                  <a:rPr lang="es-ES" sz="1200" dirty="0">
                    <a:latin typeface="Arial" panose="020B0604020202020204" pitchFamily="34" charset="0"/>
                    <a:cs typeface="Arial" panose="020B0604020202020204" pitchFamily="34" charset="0"/>
                  </a:rPr>
                  <a:t> = -7.5 dB – (-8.2 dB) = 0.70 dB </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Por tanto, el caso 1 tiene mejor visibilidad de las franjas, mientras que el caso 2 queda más plano porque las potencias que interfieren están menos equilibradas.</a:t>
                </a:r>
              </a:p>
              <a:p>
                <a:pPr algn="just"/>
                <a:endParaRPr lang="en-US" sz="1200" b="1"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Extra: What coupling coefficient will you select for the input coupler if you want to match the losses of the longer arm? Simulate and extract the 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7E1CFA5-0DC4-5ECA-47AF-DD93CAB9D72D}"/>
                  </a:ext>
                </a:extLst>
              </p:cNvPr>
              <p:cNvSpPr txBox="1">
                <a:spLocks noRot="1" noChangeAspect="1" noMove="1" noResize="1" noEditPoints="1" noAdjustHandles="1" noChangeArrowheads="1" noChangeShapeType="1" noTextEdit="1"/>
              </p:cNvSpPr>
              <p:nvPr/>
            </p:nvSpPr>
            <p:spPr>
              <a:xfrm>
                <a:off x="583019" y="1371600"/>
                <a:ext cx="11199971" cy="4524315"/>
              </a:xfrm>
              <a:prstGeom prst="rect">
                <a:avLst/>
              </a:prstGeom>
              <a:blipFill>
                <a:blip r:embed="rId3"/>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9311960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F929251A-3DC4-36B2-3FB3-341378364BED}"/>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11</a:t>
            </a:fld>
            <a:endParaRPr lang="en-US" dirty="0"/>
          </a:p>
        </p:txBody>
      </p:sp>
      <p:sp>
        <p:nvSpPr>
          <p:cNvPr id="11" name="Rectángulo 10">
            <a:extLst>
              <a:ext uri="{FF2B5EF4-FFF2-40B4-BE49-F238E27FC236}">
                <a16:creationId xmlns:a16="http://schemas.microsoft.com/office/drawing/2014/main" id="{B811A5F9-C0B5-716C-70FB-9472E1BC2CD3}"/>
              </a:ext>
            </a:extLst>
          </p:cNvPr>
          <p:cNvSpPr/>
          <p:nvPr/>
        </p:nvSpPr>
        <p:spPr>
          <a:xfrm>
            <a:off x="381000" y="1418373"/>
            <a:ext cx="5943600"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uadroTexto 11">
            <a:extLst>
              <a:ext uri="{FF2B5EF4-FFF2-40B4-BE49-F238E27FC236}">
                <a16:creationId xmlns:a16="http://schemas.microsoft.com/office/drawing/2014/main" id="{1D17C364-5A66-F740-B152-8B41A2A4EF26}"/>
              </a:ext>
            </a:extLst>
          </p:cNvPr>
          <p:cNvSpPr txBox="1"/>
          <p:nvPr/>
        </p:nvSpPr>
        <p:spPr>
          <a:xfrm>
            <a:off x="6380141" y="4992222"/>
            <a:ext cx="5494199" cy="784830"/>
          </a:xfrm>
          <a:prstGeom prst="rect">
            <a:avLst/>
          </a:prstGeom>
          <a:noFill/>
        </p:spPr>
        <p:txBody>
          <a:bodyPr wrap="square" rtlCol="0">
            <a:spAutoFit/>
          </a:bodyPr>
          <a:lstStyle/>
          <a:p>
            <a:pPr algn="ctr"/>
            <a:r>
              <a:rPr lang="es-ES" sz="1500" b="1" dirty="0">
                <a:latin typeface="Arial" panose="020B0604020202020204" pitchFamily="34" charset="0"/>
                <a:cs typeface="Arial" panose="020B0604020202020204" pitchFamily="34" charset="0"/>
              </a:rPr>
              <a:t>Single ring</a:t>
            </a:r>
          </a:p>
          <a:p>
            <a:pPr algn="ctr"/>
            <a:r>
              <a:rPr lang="es-ES" sz="1500" b="1" dirty="0">
                <a:latin typeface="Arial" panose="020B0604020202020204" pitchFamily="34" charset="0"/>
                <a:cs typeface="Arial" panose="020B0604020202020204" pitchFamily="34" charset="0"/>
              </a:rPr>
              <a:t>transfer </a:t>
            </a:r>
            <a:r>
              <a:rPr lang="es-ES" sz="1500" b="1" dirty="0" err="1">
                <a:latin typeface="Arial" panose="020B0604020202020204" pitchFamily="34" charset="0"/>
                <a:cs typeface="Arial" panose="020B0604020202020204" pitchFamily="34" charset="0"/>
              </a:rPr>
              <a:t>functions</a:t>
            </a:r>
            <a:endParaRPr lang="es-ES" sz="1500" b="1" dirty="0">
              <a:latin typeface="Arial" panose="020B0604020202020204" pitchFamily="34" charset="0"/>
              <a:cs typeface="Arial" panose="020B0604020202020204" pitchFamily="34" charset="0"/>
            </a:endParaRPr>
          </a:p>
          <a:p>
            <a:pPr algn="ctr"/>
            <a:r>
              <a:rPr lang="es-ES" sz="1500" b="1" dirty="0" err="1">
                <a:latin typeface="Arial" panose="020B0604020202020204" pitchFamily="34" charset="0"/>
                <a:cs typeface="Arial" panose="020B0604020202020204" pitchFamily="34" charset="0"/>
              </a:rPr>
              <a:t>Logaritmic</a:t>
            </a:r>
            <a:r>
              <a:rPr lang="es-ES" sz="1500" b="1" dirty="0">
                <a:latin typeface="Arial" panose="020B0604020202020204" pitchFamily="34" charset="0"/>
                <a:cs typeface="Arial" panose="020B0604020202020204" pitchFamily="34" charset="0"/>
              </a:rPr>
              <a:t> </a:t>
            </a:r>
            <a:r>
              <a:rPr lang="es-ES" sz="1500" b="1" dirty="0" err="1">
                <a:latin typeface="Arial" panose="020B0604020202020204" pitchFamily="34" charset="0"/>
                <a:cs typeface="Arial" panose="020B0604020202020204" pitchFamily="34" charset="0"/>
              </a:rPr>
              <a:t>units</a:t>
            </a:r>
            <a:endParaRPr lang="en-US" sz="1500" b="1" dirty="0">
              <a:latin typeface="Arial" panose="020B0604020202020204" pitchFamily="34" charset="0"/>
              <a:cs typeface="Arial" panose="020B0604020202020204" pitchFamily="34" charset="0"/>
            </a:endParaRPr>
          </a:p>
        </p:txBody>
      </p:sp>
      <p:sp>
        <p:nvSpPr>
          <p:cNvPr id="14" name="Rectángulo 13">
            <a:extLst>
              <a:ext uri="{FF2B5EF4-FFF2-40B4-BE49-F238E27FC236}">
                <a16:creationId xmlns:a16="http://schemas.microsoft.com/office/drawing/2014/main" id="{6AA857E7-5C39-DCE1-10B5-40300FCF4B26}"/>
              </a:ext>
            </a:extLst>
          </p:cNvPr>
          <p:cNvSpPr/>
          <p:nvPr/>
        </p:nvSpPr>
        <p:spPr>
          <a:xfrm>
            <a:off x="6400357" y="1406611"/>
            <a:ext cx="5563043"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uadroTexto 14">
            <a:extLst>
              <a:ext uri="{FF2B5EF4-FFF2-40B4-BE49-F238E27FC236}">
                <a16:creationId xmlns:a16="http://schemas.microsoft.com/office/drawing/2014/main" id="{54CF28B4-1346-F41D-2CD8-EA104ABBFB98}"/>
              </a:ext>
            </a:extLst>
          </p:cNvPr>
          <p:cNvSpPr txBox="1"/>
          <p:nvPr/>
        </p:nvSpPr>
        <p:spPr>
          <a:xfrm>
            <a:off x="377890" y="4962827"/>
            <a:ext cx="5943600" cy="784830"/>
          </a:xfrm>
          <a:prstGeom prst="rect">
            <a:avLst/>
          </a:prstGeom>
          <a:noFill/>
        </p:spPr>
        <p:txBody>
          <a:bodyPr wrap="square" rtlCol="0">
            <a:spAutoFit/>
          </a:bodyPr>
          <a:lstStyle/>
          <a:p>
            <a:pPr algn="ctr"/>
            <a:r>
              <a:rPr lang="es-ES" sz="1500" b="1" dirty="0">
                <a:latin typeface="Arial" panose="020B0604020202020204" pitchFamily="34" charset="0"/>
                <a:cs typeface="Arial" panose="020B0604020202020204" pitchFamily="34" charset="0"/>
              </a:rPr>
              <a:t>Single ring</a:t>
            </a:r>
          </a:p>
          <a:p>
            <a:pPr algn="ctr"/>
            <a:r>
              <a:rPr lang="es-ES" sz="1500" b="1" dirty="0">
                <a:latin typeface="Arial" panose="020B0604020202020204" pitchFamily="34" charset="0"/>
                <a:cs typeface="Arial" panose="020B0604020202020204" pitchFamily="34" charset="0"/>
              </a:rPr>
              <a:t>transfer </a:t>
            </a:r>
            <a:r>
              <a:rPr lang="es-ES" sz="1500" b="1" dirty="0" err="1">
                <a:latin typeface="Arial" panose="020B0604020202020204" pitchFamily="34" charset="0"/>
                <a:cs typeface="Arial" panose="020B0604020202020204" pitchFamily="34" charset="0"/>
              </a:rPr>
              <a:t>functions</a:t>
            </a:r>
            <a:endParaRPr lang="es-ES" sz="1500" b="1" dirty="0">
              <a:latin typeface="Arial" panose="020B0604020202020204" pitchFamily="34" charset="0"/>
              <a:cs typeface="Arial" panose="020B0604020202020204" pitchFamily="34" charset="0"/>
            </a:endParaRPr>
          </a:p>
          <a:p>
            <a:pPr algn="ctr"/>
            <a:r>
              <a:rPr lang="es-ES" sz="1500" b="1" dirty="0">
                <a:latin typeface="Arial" panose="020B0604020202020204" pitchFamily="34" charset="0"/>
                <a:cs typeface="Arial" panose="020B0604020202020204" pitchFamily="34" charset="0"/>
              </a:rPr>
              <a:t>Linear </a:t>
            </a:r>
            <a:r>
              <a:rPr lang="es-ES" sz="1500" b="1" dirty="0" err="1">
                <a:latin typeface="Arial" panose="020B0604020202020204" pitchFamily="34" charset="0"/>
                <a:cs typeface="Arial" panose="020B0604020202020204" pitchFamily="34" charset="0"/>
              </a:rPr>
              <a:t>units</a:t>
            </a:r>
            <a:endParaRPr lang="en-US" sz="1500" b="1" dirty="0">
              <a:latin typeface="Arial" panose="020B0604020202020204" pitchFamily="34" charset="0"/>
              <a:cs typeface="Arial" panose="020B0604020202020204" pitchFamily="34" charset="0"/>
            </a:endParaRPr>
          </a:p>
        </p:txBody>
      </p:sp>
      <p:pic>
        <p:nvPicPr>
          <p:cNvPr id="9" name="Gráfico 8">
            <a:extLst>
              <a:ext uri="{FF2B5EF4-FFF2-40B4-BE49-F238E27FC236}">
                <a16:creationId xmlns:a16="http://schemas.microsoft.com/office/drawing/2014/main" id="{83C716FC-7070-6DA5-E116-195D4CD9BD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0" name="object 16">
            <a:extLst>
              <a:ext uri="{FF2B5EF4-FFF2-40B4-BE49-F238E27FC236}">
                <a16:creationId xmlns:a16="http://schemas.microsoft.com/office/drawing/2014/main" id="{C319E249-48A9-70AD-7ACE-23CF9ABF6137}"/>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#4 – Ring Resonator</a:t>
            </a:r>
          </a:p>
          <a:p>
            <a:pPr marL="12700">
              <a:spcBef>
                <a:spcPts val="100"/>
              </a:spcBef>
            </a:pPr>
            <a:r>
              <a:rPr lang="en-US" b="0" kern="0" spc="-5" dirty="0">
                <a:latin typeface="+mj-lt"/>
                <a:cs typeface="Lucida Sans"/>
              </a:rPr>
              <a:t>Single ring resonator – most simple case Constant coupler K (no wavelength variation)</a:t>
            </a:r>
          </a:p>
        </p:txBody>
      </p:sp>
      <p:pic>
        <p:nvPicPr>
          <p:cNvPr id="4" name="Imagen 3">
            <a:extLst>
              <a:ext uri="{FF2B5EF4-FFF2-40B4-BE49-F238E27FC236}">
                <a16:creationId xmlns:a16="http://schemas.microsoft.com/office/drawing/2014/main" id="{D59C5544-102A-D84B-7FAD-EF683C90971E}"/>
              </a:ext>
            </a:extLst>
          </p:cNvPr>
          <p:cNvPicPr>
            <a:picLocks noChangeAspect="1"/>
          </p:cNvPicPr>
          <p:nvPr/>
        </p:nvPicPr>
        <p:blipFill>
          <a:blip r:embed="rId3"/>
          <a:stretch>
            <a:fillRect/>
          </a:stretch>
        </p:blipFill>
        <p:spPr>
          <a:xfrm>
            <a:off x="694038" y="2035988"/>
            <a:ext cx="5562599" cy="2089733"/>
          </a:xfrm>
          <a:prstGeom prst="rect">
            <a:avLst/>
          </a:prstGeom>
        </p:spPr>
      </p:pic>
      <p:pic>
        <p:nvPicPr>
          <p:cNvPr id="13" name="Imagen 12">
            <a:extLst>
              <a:ext uri="{FF2B5EF4-FFF2-40B4-BE49-F238E27FC236}">
                <a16:creationId xmlns:a16="http://schemas.microsoft.com/office/drawing/2014/main" id="{99E5AF44-A482-5D33-BA73-4170C08EF47E}"/>
              </a:ext>
            </a:extLst>
          </p:cNvPr>
          <p:cNvPicPr>
            <a:picLocks noChangeAspect="1"/>
          </p:cNvPicPr>
          <p:nvPr/>
        </p:nvPicPr>
        <p:blipFill>
          <a:blip r:embed="rId4"/>
          <a:stretch>
            <a:fillRect/>
          </a:stretch>
        </p:blipFill>
        <p:spPr>
          <a:xfrm>
            <a:off x="6434778" y="1991549"/>
            <a:ext cx="5494199" cy="2445620"/>
          </a:xfrm>
          <a:prstGeom prst="rect">
            <a:avLst/>
          </a:prstGeom>
        </p:spPr>
      </p:pic>
    </p:spTree>
    <p:extLst>
      <p:ext uri="{BB962C8B-B14F-4D97-AF65-F5344CB8AC3E}">
        <p14:creationId xmlns:p14="http://schemas.microsoft.com/office/powerpoint/2010/main" val="543184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D9DC5-2119-778F-1CEA-62CA2096919A}"/>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F27BDEB7-E5E5-2B14-339B-6354C271BC5C}"/>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FE607FC6-2DB4-D8A5-4787-E472B6917DB2}"/>
              </a:ext>
            </a:extLst>
          </p:cNvPr>
          <p:cNvSpPr>
            <a:spLocks noGrp="1"/>
          </p:cNvSpPr>
          <p:nvPr>
            <p:ph type="sldNum" sz="quarter" idx="7"/>
          </p:nvPr>
        </p:nvSpPr>
        <p:spPr/>
        <p:txBody>
          <a:bodyPr/>
          <a:lstStyle/>
          <a:p>
            <a:fld id="{C2F52289-4012-4053-9770-FE82CEB9514F}" type="slidenum">
              <a:rPr lang="en-US" smtClean="0"/>
              <a:pPr/>
              <a:t>12</a:t>
            </a:fld>
            <a:endParaRPr lang="en-U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8C73EB0F-8A9F-1299-3B51-29BDB979D828}"/>
                  </a:ext>
                </a:extLst>
              </p:cNvPr>
              <p:cNvSpPr txBox="1"/>
              <p:nvPr/>
            </p:nvSpPr>
            <p:spPr>
              <a:xfrm>
                <a:off x="419814" y="1321801"/>
                <a:ext cx="11352371" cy="4094711"/>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b="1" i="1"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Comment results: describer the transfer functions. which is the FSR? How is it related to the ring perimeter? </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el resonador en anillo se ven varias caídas de transmisión. Estas caídas aparecen cuando la luz que da la vuelta al anillo vuelve en fase consigo misma y se produce resonancia. En esas longitudes de onda, parte de la potencia queda acoplada al anillo y por eso la transmisión en la guía baja.</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El FSR es la separación entre dos resonancias consecutivas. En este caso es aproximadamente 24.025 nm, que coincide con la separación entre los mínimos de la gráfica. El FSR depende del perímetro del anillo: si el perímetro aumenta, el FSR disminuye, porque la luz acumula más fase en cada vuelta y las resonancias aparecen más juntas</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escala lineal se aprecia mejor la forma de los mínimos, mientras que en escala logarítmica se ven mejor las caídas de potencia.</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Show a numeric calculation of the FSR and length difference matching the results in the graph,</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El FSR se calcula usando el perímetro del anillo:</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FSR = </a:t>
                </a:r>
                <a14:m>
                  <m:oMath xmlns:m="http://schemas.openxmlformats.org/officeDocument/2006/math">
                    <m:f>
                      <m:fPr>
                        <m:ctrlPr>
                          <a:rPr lang="es-ES" sz="1200" b="0" i="1" smtClean="0">
                            <a:latin typeface="Cambria Math" panose="02040503050406030204" pitchFamily="18" charset="0"/>
                          </a:rPr>
                        </m:ctrlPr>
                      </m:fPr>
                      <m:num>
                        <m:r>
                          <a:rPr lang="ar-AE" sz="1200" i="1">
                            <a:latin typeface="Cambria Math" panose="02040503050406030204" pitchFamily="18" charset="0"/>
                          </a:rPr>
                          <m:t>𝜆</m:t>
                        </m:r>
                        <m:sSup>
                          <m:sSupPr>
                            <m:ctrlPr>
                              <a:rPr lang="es-ES" sz="1200" b="0" i="1" smtClean="0">
                                <a:latin typeface="Cambria Math" panose="02040503050406030204" pitchFamily="18" charset="0"/>
                              </a:rPr>
                            </m:ctrlPr>
                          </m:sSupPr>
                          <m:e>
                            <m:r>
                              <a:rPr lang="es-ES" sz="1200" b="0" i="1" smtClean="0">
                                <a:latin typeface="Cambria Math" panose="02040503050406030204" pitchFamily="18" charset="0"/>
                              </a:rPr>
                              <m:t>𝑜</m:t>
                            </m:r>
                          </m:e>
                          <m:sup>
                            <m:r>
                              <a:rPr lang="es-ES" sz="1200" b="0" i="1" smtClean="0">
                                <a:latin typeface="Cambria Math" panose="02040503050406030204" pitchFamily="18" charset="0"/>
                              </a:rPr>
                              <m:t>2</m:t>
                            </m:r>
                          </m:sup>
                        </m:sSup>
                      </m:num>
                      <m:den>
                        <m:r>
                          <a:rPr lang="es-ES" sz="1200" b="0" i="1" smtClean="0">
                            <a:latin typeface="Cambria Math" panose="02040503050406030204" pitchFamily="18" charset="0"/>
                          </a:rPr>
                          <m:t>𝑛𝑔</m:t>
                        </m:r>
                        <m:r>
                          <a:rPr lang="es-ES" sz="1200" b="0" i="1" smtClean="0">
                            <a:latin typeface="Cambria Math" panose="02040503050406030204" pitchFamily="18" charset="0"/>
                          </a:rPr>
                          <m:t>∗</m:t>
                        </m:r>
                        <m:r>
                          <a:rPr lang="es-ES" sz="1200" b="0" i="1" smtClean="0">
                            <a:latin typeface="Cambria Math" panose="02040503050406030204" pitchFamily="18" charset="0"/>
                          </a:rPr>
                          <m:t>𝐿𝑟</m:t>
                        </m:r>
                      </m:den>
                    </m:f>
                  </m:oMath>
                </a14:m>
                <a:r>
                  <a:rPr lang="es-ES" sz="1200" dirty="0">
                    <a:latin typeface="Arial" panose="020B0604020202020204" pitchFamily="34" charset="0"/>
                    <a:cs typeface="Arial" panose="020B0604020202020204" pitchFamily="34" charset="0"/>
                  </a:rPr>
                  <a:t>, donde los valores a usar son ng=2 siendo el índice de grupo, Lr=50um siendo la longitud del anillo y </a:t>
                </a:r>
                <a14:m>
                  <m:oMath xmlns:m="http://schemas.openxmlformats.org/officeDocument/2006/math">
                    <m:r>
                      <a:rPr lang="ar-AE" sz="1200" i="1">
                        <a:latin typeface="Cambria Math" panose="02040503050406030204" pitchFamily="18" charset="0"/>
                      </a:rPr>
                      <m:t>𝜆</m:t>
                    </m:r>
                    <m:r>
                      <a:rPr lang="es-ES" sz="1200" b="0" i="1" smtClean="0">
                        <a:latin typeface="Cambria Math" panose="02040503050406030204" pitchFamily="18" charset="0"/>
                      </a:rPr>
                      <m:t>𝑜</m:t>
                    </m:r>
                  </m:oMath>
                </a14:m>
                <a:r>
                  <a:rPr lang="es-ES" sz="1200" dirty="0">
                    <a:latin typeface="Arial" panose="020B0604020202020204" pitchFamily="34" charset="0"/>
                    <a:cs typeface="Arial" panose="020B0604020202020204" pitchFamily="34" charset="0"/>
                  </a:rPr>
                  <a:t>=1.55um, resultando un FSR=24.025nm.</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Este valor coincide con la gráfica, porque los mínimos de transmisión aparecen separados aproximadamente 24 nm. Además, se ve que el FSR depende directamente del perímetro del anillo: si el perímetro aumenta, el FSR disminuye, y las resonancias aparecen más juntas.</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8" name="CuadroTexto 7">
                <a:extLst>
                  <a:ext uri="{FF2B5EF4-FFF2-40B4-BE49-F238E27FC236}">
                    <a16:creationId xmlns:a16="http://schemas.microsoft.com/office/drawing/2014/main" id="{8C73EB0F-8A9F-1299-3B51-29BDB979D828}"/>
                  </a:ext>
                </a:extLst>
              </p:cNvPr>
              <p:cNvSpPr txBox="1">
                <a:spLocks noRot="1" noChangeAspect="1" noMove="1" noResize="1" noEditPoints="1" noAdjustHandles="1" noChangeArrowheads="1" noChangeShapeType="1" noTextEdit="1"/>
              </p:cNvSpPr>
              <p:nvPr/>
            </p:nvSpPr>
            <p:spPr>
              <a:xfrm>
                <a:off x="419814" y="1321801"/>
                <a:ext cx="11352371" cy="4094711"/>
              </a:xfrm>
              <a:prstGeom prst="rect">
                <a:avLst/>
              </a:prstGeom>
              <a:blipFill>
                <a:blip r:embed="rId2"/>
                <a:stretch>
                  <a:fillRect/>
                </a:stretch>
              </a:blipFill>
              <a:ln w="28575">
                <a:solidFill>
                  <a:srgbClr val="E0700D"/>
                </a:solidFill>
              </a:ln>
            </p:spPr>
            <p:txBody>
              <a:bodyPr/>
              <a:lstStyle/>
              <a:p>
                <a:r>
                  <a:rPr lang="es-ES">
                    <a:noFill/>
                  </a:rPr>
                  <a:t> </a:t>
                </a:r>
              </a:p>
            </p:txBody>
          </p:sp>
        </mc:Fallback>
      </mc:AlternateContent>
      <p:pic>
        <p:nvPicPr>
          <p:cNvPr id="9" name="Gráfico 8">
            <a:extLst>
              <a:ext uri="{FF2B5EF4-FFF2-40B4-BE49-F238E27FC236}">
                <a16:creationId xmlns:a16="http://schemas.microsoft.com/office/drawing/2014/main" id="{2E92450A-C494-537A-0AC0-AA50553FC5A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10" name="object 16">
            <a:extLst>
              <a:ext uri="{FF2B5EF4-FFF2-40B4-BE49-F238E27FC236}">
                <a16:creationId xmlns:a16="http://schemas.microsoft.com/office/drawing/2014/main" id="{49DBCD56-46F7-4EEA-E9A1-7E20771C72FF}"/>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#4 – Ring Resonator</a:t>
            </a:r>
          </a:p>
          <a:p>
            <a:pPr marL="12700">
              <a:spcBef>
                <a:spcPts val="100"/>
              </a:spcBef>
            </a:pPr>
            <a:r>
              <a:rPr lang="en-US" b="0" kern="0" spc="-5" dirty="0">
                <a:latin typeface="+mj-lt"/>
                <a:cs typeface="Lucida Sans"/>
              </a:rPr>
              <a:t>Single ring resonator – most simple case Constant coupler K (no wavelength variation)</a:t>
            </a:r>
          </a:p>
        </p:txBody>
      </p:sp>
      <p:pic>
        <p:nvPicPr>
          <p:cNvPr id="3" name="Imagen 2">
            <a:extLst>
              <a:ext uri="{FF2B5EF4-FFF2-40B4-BE49-F238E27FC236}">
                <a16:creationId xmlns:a16="http://schemas.microsoft.com/office/drawing/2014/main" id="{370707E7-A3AD-E843-5082-67390FAE8141}"/>
              </a:ext>
            </a:extLst>
          </p:cNvPr>
          <p:cNvPicPr>
            <a:picLocks noChangeAspect="1"/>
          </p:cNvPicPr>
          <p:nvPr/>
        </p:nvPicPr>
        <p:blipFill>
          <a:blip r:embed="rId4"/>
          <a:stretch>
            <a:fillRect/>
          </a:stretch>
        </p:blipFill>
        <p:spPr>
          <a:xfrm>
            <a:off x="9753600" y="2971800"/>
            <a:ext cx="1752600" cy="1289985"/>
          </a:xfrm>
          <a:prstGeom prst="rect">
            <a:avLst/>
          </a:prstGeom>
        </p:spPr>
      </p:pic>
    </p:spTree>
    <p:extLst>
      <p:ext uri="{BB962C8B-B14F-4D97-AF65-F5344CB8AC3E}">
        <p14:creationId xmlns:p14="http://schemas.microsoft.com/office/powerpoint/2010/main" val="29414541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2DF-810F-7BDA-CFF3-0CFEE760301A}"/>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4915C280-A84A-95DA-94D2-FE062C8ED61F}"/>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E919F9EF-02D5-71FC-C2BC-F8EC5B26723E}"/>
              </a:ext>
            </a:extLst>
          </p:cNvPr>
          <p:cNvSpPr>
            <a:spLocks noGrp="1"/>
          </p:cNvSpPr>
          <p:nvPr>
            <p:ph type="sldNum" sz="quarter" idx="7"/>
          </p:nvPr>
        </p:nvSpPr>
        <p:spPr/>
        <p:txBody>
          <a:bodyPr/>
          <a:lstStyle/>
          <a:p>
            <a:fld id="{C2F52289-4012-4053-9770-FE82CEB9514F}" type="slidenum">
              <a:rPr lang="en-US" smtClean="0"/>
              <a:pPr/>
              <a:t>13</a:t>
            </a:fld>
            <a:endParaRPr lang="en-US" dirty="0"/>
          </a:p>
        </p:txBody>
      </p:sp>
      <p:sp>
        <p:nvSpPr>
          <p:cNvPr id="3" name="Rectángulo 2">
            <a:extLst>
              <a:ext uri="{FF2B5EF4-FFF2-40B4-BE49-F238E27FC236}">
                <a16:creationId xmlns:a16="http://schemas.microsoft.com/office/drawing/2014/main" id="{E54DA3AC-DFE0-BB51-7C71-7CD9087359D0}"/>
              </a:ext>
            </a:extLst>
          </p:cNvPr>
          <p:cNvSpPr/>
          <p:nvPr/>
        </p:nvSpPr>
        <p:spPr>
          <a:xfrm>
            <a:off x="10591800" y="1418373"/>
            <a:ext cx="1218760" cy="2010627"/>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sz="1200" b="1" dirty="0">
                <a:solidFill>
                  <a:schemeClr val="tx1"/>
                </a:solidFill>
                <a:latin typeface="Arial" panose="020B0604020202020204" pitchFamily="34" charset="0"/>
                <a:cs typeface="Arial" panose="020B0604020202020204" pitchFamily="34" charset="0"/>
              </a:rPr>
              <a:t>Hints:</a:t>
            </a:r>
            <a:endParaRPr lang="en-US" sz="1200" dirty="0">
              <a:solidFill>
                <a:schemeClr val="tx1"/>
              </a:solidFill>
              <a:latin typeface="Arial" panose="020B0604020202020204" pitchFamily="34" charset="0"/>
              <a:cs typeface="Arial" panose="020B0604020202020204" pitchFamily="34" charset="0"/>
            </a:endParaRPr>
          </a:p>
          <a:p>
            <a:pPr algn="just"/>
            <a:endParaRPr lang="en-US" sz="1200" dirty="0">
              <a:solidFill>
                <a:schemeClr val="tx1"/>
              </a:solidFill>
              <a:latin typeface="Arial" panose="020B0604020202020204" pitchFamily="34" charset="0"/>
              <a:cs typeface="Arial" panose="020B0604020202020204" pitchFamily="34" charset="0"/>
            </a:endParaRPr>
          </a:p>
          <a:p>
            <a:pPr algn="just"/>
            <a:r>
              <a:rPr lang="en-US" sz="1200" dirty="0">
                <a:solidFill>
                  <a:schemeClr val="tx1"/>
                </a:solidFill>
                <a:latin typeface="Arial" panose="020B0604020202020204" pitchFamily="34" charset="0"/>
                <a:cs typeface="Arial" panose="020B0604020202020204" pitchFamily="34" charset="0"/>
              </a:rPr>
              <a:t>Design the perimeter for a FSR = 15 nm. </a:t>
            </a:r>
          </a:p>
          <a:p>
            <a:pPr algn="just"/>
            <a:endParaRPr lang="en-US" sz="1200" dirty="0">
              <a:solidFill>
                <a:schemeClr val="tx1"/>
              </a:solidFill>
              <a:latin typeface="Arial" panose="020B0604020202020204" pitchFamily="34" charset="0"/>
              <a:cs typeface="Arial" panose="020B0604020202020204" pitchFamily="34" charset="0"/>
            </a:endParaRPr>
          </a:p>
          <a:p>
            <a:pPr algn="just"/>
            <a:r>
              <a:rPr lang="en-US" sz="1200" dirty="0">
                <a:solidFill>
                  <a:schemeClr val="tx1"/>
                </a:solidFill>
                <a:latin typeface="Arial" panose="020B0604020202020204" pitchFamily="34" charset="0"/>
                <a:cs typeface="Arial" panose="020B0604020202020204" pitchFamily="34" charset="0"/>
              </a:rPr>
              <a:t>Use equations given in class that relate FSR and perimeter.</a:t>
            </a:r>
          </a:p>
          <a:p>
            <a:pPr algn="just"/>
            <a:endParaRPr lang="en-US" sz="1200" dirty="0">
              <a:solidFill>
                <a:schemeClr val="tx1"/>
              </a:solidFill>
              <a:latin typeface="Arial" panose="020B0604020202020204" pitchFamily="34" charset="0"/>
              <a:cs typeface="Arial" panose="020B0604020202020204" pitchFamily="34" charset="0"/>
            </a:endParaRPr>
          </a:p>
          <a:p>
            <a:pPr algn="just"/>
            <a:endParaRPr lang="en-US" sz="1200" dirty="0">
              <a:solidFill>
                <a:schemeClr val="tx1"/>
              </a:solidFill>
              <a:latin typeface="Arial" panose="020B0604020202020204" pitchFamily="34" charset="0"/>
              <a:cs typeface="Arial" panose="020B0604020202020204" pitchFamily="34" charset="0"/>
            </a:endParaRPr>
          </a:p>
          <a:p>
            <a:pPr algn="just"/>
            <a:endParaRPr lang="en-US" sz="1200" dirty="0">
              <a:solidFill>
                <a:schemeClr val="tx1"/>
              </a:solidFill>
              <a:latin typeface="Arial" panose="020B0604020202020204" pitchFamily="34" charset="0"/>
              <a:cs typeface="Arial" panose="020B0604020202020204" pitchFamily="34" charset="0"/>
            </a:endParaRPr>
          </a:p>
        </p:txBody>
      </p:sp>
      <p:sp>
        <p:nvSpPr>
          <p:cNvPr id="10" name="Rectángulo 9">
            <a:extLst>
              <a:ext uri="{FF2B5EF4-FFF2-40B4-BE49-F238E27FC236}">
                <a16:creationId xmlns:a16="http://schemas.microsoft.com/office/drawing/2014/main" id="{82011495-88D4-8787-6CB7-704897D84CF9}"/>
              </a:ext>
            </a:extLst>
          </p:cNvPr>
          <p:cNvSpPr/>
          <p:nvPr/>
        </p:nvSpPr>
        <p:spPr>
          <a:xfrm>
            <a:off x="486653" y="1418373"/>
            <a:ext cx="4886664"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uadroTexto 11">
            <a:extLst>
              <a:ext uri="{FF2B5EF4-FFF2-40B4-BE49-F238E27FC236}">
                <a16:creationId xmlns:a16="http://schemas.microsoft.com/office/drawing/2014/main" id="{3BD35A6E-6540-9761-4128-0E43122290D4}"/>
              </a:ext>
            </a:extLst>
          </p:cNvPr>
          <p:cNvSpPr txBox="1"/>
          <p:nvPr/>
        </p:nvSpPr>
        <p:spPr>
          <a:xfrm>
            <a:off x="6814842" y="2201443"/>
            <a:ext cx="2033313" cy="1323439"/>
          </a:xfrm>
          <a:prstGeom prst="rect">
            <a:avLst/>
          </a:prstGeom>
          <a:noFill/>
        </p:spPr>
        <p:txBody>
          <a:bodyPr wrap="none" rtlCol="0">
            <a:spAutoFit/>
          </a:bodyPr>
          <a:lstStyle/>
          <a:p>
            <a:pPr algn="ctr"/>
            <a:r>
              <a:rPr lang="es-ES" sz="2000" dirty="0"/>
              <a:t>Single ring</a:t>
            </a:r>
          </a:p>
          <a:p>
            <a:pPr algn="ctr"/>
            <a:r>
              <a:rPr lang="es-ES" sz="2000" dirty="0"/>
              <a:t>transfer </a:t>
            </a:r>
            <a:r>
              <a:rPr lang="es-ES" sz="2000" dirty="0" err="1"/>
              <a:t>functions</a:t>
            </a:r>
            <a:endParaRPr lang="es-ES" sz="2000" dirty="0"/>
          </a:p>
          <a:p>
            <a:pPr algn="ctr"/>
            <a:endParaRPr lang="es-ES" sz="2000" dirty="0"/>
          </a:p>
          <a:p>
            <a:pPr algn="ctr"/>
            <a:r>
              <a:rPr lang="es-ES" sz="2000" dirty="0" err="1"/>
              <a:t>Logaritmic</a:t>
            </a:r>
            <a:r>
              <a:rPr lang="es-ES" sz="2000" dirty="0"/>
              <a:t> </a:t>
            </a:r>
            <a:r>
              <a:rPr lang="es-ES" sz="2000" dirty="0" err="1"/>
              <a:t>units</a:t>
            </a:r>
            <a:endParaRPr lang="en-US" sz="2000" dirty="0"/>
          </a:p>
        </p:txBody>
      </p:sp>
      <p:sp>
        <p:nvSpPr>
          <p:cNvPr id="13" name="Rectángulo 12">
            <a:extLst>
              <a:ext uri="{FF2B5EF4-FFF2-40B4-BE49-F238E27FC236}">
                <a16:creationId xmlns:a16="http://schemas.microsoft.com/office/drawing/2014/main" id="{03798D61-1E16-8473-BDCE-1D97F95EF7BE}"/>
              </a:ext>
            </a:extLst>
          </p:cNvPr>
          <p:cNvSpPr/>
          <p:nvPr/>
        </p:nvSpPr>
        <p:spPr>
          <a:xfrm>
            <a:off x="5478874" y="1418373"/>
            <a:ext cx="500736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uadroTexto 15">
            <a:extLst>
              <a:ext uri="{FF2B5EF4-FFF2-40B4-BE49-F238E27FC236}">
                <a16:creationId xmlns:a16="http://schemas.microsoft.com/office/drawing/2014/main" id="{B49B3613-E785-3FCB-DA8D-2B43EB104C5D}"/>
              </a:ext>
            </a:extLst>
          </p:cNvPr>
          <p:cNvSpPr txBox="1"/>
          <p:nvPr/>
        </p:nvSpPr>
        <p:spPr>
          <a:xfrm>
            <a:off x="1499379" y="2478160"/>
            <a:ext cx="2033313" cy="1323439"/>
          </a:xfrm>
          <a:prstGeom prst="rect">
            <a:avLst/>
          </a:prstGeom>
          <a:noFill/>
        </p:spPr>
        <p:txBody>
          <a:bodyPr wrap="none" rtlCol="0">
            <a:spAutoFit/>
          </a:bodyPr>
          <a:lstStyle/>
          <a:p>
            <a:pPr algn="ctr"/>
            <a:r>
              <a:rPr lang="es-ES" sz="2000" dirty="0"/>
              <a:t>Single ring</a:t>
            </a:r>
          </a:p>
          <a:p>
            <a:pPr algn="ctr"/>
            <a:r>
              <a:rPr lang="es-ES" sz="2000" dirty="0"/>
              <a:t>transfer </a:t>
            </a:r>
            <a:r>
              <a:rPr lang="es-ES" sz="2000" dirty="0" err="1"/>
              <a:t>functions</a:t>
            </a:r>
            <a:endParaRPr lang="es-ES" sz="2000" dirty="0"/>
          </a:p>
          <a:p>
            <a:pPr algn="ctr"/>
            <a:endParaRPr lang="es-ES" sz="2000" dirty="0"/>
          </a:p>
          <a:p>
            <a:pPr algn="ctr"/>
            <a:r>
              <a:rPr lang="es-ES" sz="2000" dirty="0"/>
              <a:t>Linear </a:t>
            </a:r>
            <a:r>
              <a:rPr lang="es-ES" sz="2000" dirty="0" err="1"/>
              <a:t>units</a:t>
            </a:r>
            <a:endParaRPr lang="en-US" sz="2000" dirty="0"/>
          </a:p>
        </p:txBody>
      </p:sp>
      <p:pic>
        <p:nvPicPr>
          <p:cNvPr id="11" name="Gráfico 10">
            <a:extLst>
              <a:ext uri="{FF2B5EF4-FFF2-40B4-BE49-F238E27FC236}">
                <a16:creationId xmlns:a16="http://schemas.microsoft.com/office/drawing/2014/main" id="{64B3EEA8-5B6A-F628-0B9C-42450CEE9BE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4" name="object 16">
            <a:extLst>
              <a:ext uri="{FF2B5EF4-FFF2-40B4-BE49-F238E27FC236}">
                <a16:creationId xmlns:a16="http://schemas.microsoft.com/office/drawing/2014/main" id="{4E9E05B5-9445-DD50-60E9-03B04ED264D4}"/>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#5 – Ring resonator design</a:t>
            </a:r>
          </a:p>
          <a:p>
            <a:pPr marL="12700">
              <a:spcBef>
                <a:spcPts val="100"/>
              </a:spcBef>
            </a:pPr>
            <a:r>
              <a:rPr lang="en-US" b="0" kern="0" spc="-5" dirty="0">
                <a:latin typeface="+mj-lt"/>
                <a:cs typeface="Lucida Sans"/>
              </a:rPr>
              <a:t>Design the perimeter for a FSR = 15 nm. </a:t>
            </a:r>
          </a:p>
        </p:txBody>
      </p:sp>
      <p:pic>
        <p:nvPicPr>
          <p:cNvPr id="4" name="Imagen 3">
            <a:extLst>
              <a:ext uri="{FF2B5EF4-FFF2-40B4-BE49-F238E27FC236}">
                <a16:creationId xmlns:a16="http://schemas.microsoft.com/office/drawing/2014/main" id="{9195544B-4E68-E5B9-BE06-3D101AB960B2}"/>
              </a:ext>
            </a:extLst>
          </p:cNvPr>
          <p:cNvPicPr>
            <a:picLocks noChangeAspect="1"/>
          </p:cNvPicPr>
          <p:nvPr/>
        </p:nvPicPr>
        <p:blipFill>
          <a:blip r:embed="rId3"/>
          <a:stretch>
            <a:fillRect/>
          </a:stretch>
        </p:blipFill>
        <p:spPr>
          <a:xfrm>
            <a:off x="509891" y="1473992"/>
            <a:ext cx="4789906" cy="3174810"/>
          </a:xfrm>
          <a:prstGeom prst="rect">
            <a:avLst/>
          </a:prstGeom>
        </p:spPr>
      </p:pic>
      <p:pic>
        <p:nvPicPr>
          <p:cNvPr id="9" name="Imagen 8">
            <a:extLst>
              <a:ext uri="{FF2B5EF4-FFF2-40B4-BE49-F238E27FC236}">
                <a16:creationId xmlns:a16="http://schemas.microsoft.com/office/drawing/2014/main" id="{B4DCE8A9-B4EA-9EE5-7542-9F97704B2FB2}"/>
              </a:ext>
            </a:extLst>
          </p:cNvPr>
          <p:cNvPicPr>
            <a:picLocks noChangeAspect="1"/>
          </p:cNvPicPr>
          <p:nvPr/>
        </p:nvPicPr>
        <p:blipFill>
          <a:blip r:embed="rId4"/>
          <a:stretch>
            <a:fillRect/>
          </a:stretch>
        </p:blipFill>
        <p:spPr>
          <a:xfrm>
            <a:off x="5513885" y="1493814"/>
            <a:ext cx="4849315" cy="3154988"/>
          </a:xfrm>
          <a:prstGeom prst="rect">
            <a:avLst/>
          </a:prstGeom>
        </p:spPr>
      </p:pic>
    </p:spTree>
    <p:extLst>
      <p:ext uri="{BB962C8B-B14F-4D97-AF65-F5344CB8AC3E}">
        <p14:creationId xmlns:p14="http://schemas.microsoft.com/office/powerpoint/2010/main" val="2915989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6AF5A-1320-7A4D-2584-17E4EBBC5591}"/>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3E774D47-E776-E7BD-4A66-FF1A047439BE}"/>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035A0C34-F94A-FC41-900E-89B90C5FE5C9}"/>
              </a:ext>
            </a:extLst>
          </p:cNvPr>
          <p:cNvSpPr>
            <a:spLocks noGrp="1"/>
          </p:cNvSpPr>
          <p:nvPr>
            <p:ph type="sldNum" sz="quarter" idx="7"/>
          </p:nvPr>
        </p:nvSpPr>
        <p:spPr/>
        <p:txBody>
          <a:bodyPr/>
          <a:lstStyle/>
          <a:p>
            <a:fld id="{C2F52289-4012-4053-9770-FE82CEB9514F}" type="slidenum">
              <a:rPr lang="en-US" smtClean="0"/>
              <a:pPr/>
              <a:t>14</a:t>
            </a:fld>
            <a:endParaRPr lang="en-U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F3FE1748-030A-4078-D5C7-82D49D6C6C97}"/>
                  </a:ext>
                </a:extLst>
              </p:cNvPr>
              <p:cNvSpPr txBox="1"/>
              <p:nvPr/>
            </p:nvSpPr>
            <p:spPr>
              <a:xfrm>
                <a:off x="583240" y="1371600"/>
                <a:ext cx="11199530" cy="3646639"/>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b="1" i="1"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Comment results: describer the transfer function. How’s the dependence on the coupler coefficient? Calculate the Extinction Ratio. How would you achieve critical coupling for the latter design? Justify your answers.</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este ejercicio se ha diseñado el perímetro del anillo para obtener un FSR de 15 nm. En la gráfica se ve que las resonancias aparecen separadas aproximadamente esa distancia, así que el perímetro calculado </a:t>
                </a:r>
                <a14:m>
                  <m:oMath xmlns:m="http://schemas.openxmlformats.org/officeDocument/2006/math">
                    <m:sSub>
                      <m:sSubPr>
                        <m:ctrlPr>
                          <a:rPr lang="ar-AE" sz="1200" i="1">
                            <a:latin typeface="Cambria Math" panose="02040503050406030204" pitchFamily="18" charset="0"/>
                          </a:rPr>
                        </m:ctrlPr>
                      </m:sSubPr>
                      <m:e>
                        <m:r>
                          <m:rPr>
                            <m:sty m:val="p"/>
                          </m:rPr>
                          <a:rPr lang="ar-AE" sz="1200" b="0" i="0">
                            <a:latin typeface="Cambria Math" panose="02040503050406030204" pitchFamily="18" charset="0"/>
                          </a:rPr>
                          <m:t>L</m:t>
                        </m:r>
                      </m:e>
                      <m:sub>
                        <m:r>
                          <m:rPr>
                            <m:sty m:val="p"/>
                          </m:rPr>
                          <a:rPr lang="ar-AE" sz="1200" b="0" i="0">
                            <a:latin typeface="Cambria Math" panose="02040503050406030204" pitchFamily="18" charset="0"/>
                          </a:rPr>
                          <m:t>r</m:t>
                        </m:r>
                      </m:sub>
                    </m:sSub>
                    <m:r>
                      <a:rPr lang="ar-AE" sz="1200" b="0" i="0">
                        <a:latin typeface="Cambria Math" panose="02040503050406030204" pitchFamily="18" charset="0"/>
                      </a:rPr>
                      <m:t>≈</m:t>
                    </m:r>
                    <m:r>
                      <a:rPr lang="ar-AE" sz="1200" b="0" i="0">
                        <a:latin typeface="Cambria Math" panose="02040503050406030204" pitchFamily="18" charset="0"/>
                      </a:rPr>
                      <m:t>80</m:t>
                    </m:r>
                    <m:r>
                      <a:rPr lang="ar-AE" sz="1200" b="0" i="0">
                        <a:latin typeface="Cambria Math" panose="02040503050406030204" pitchFamily="18" charset="0"/>
                      </a:rPr>
                      <m:t>.</m:t>
                    </m:r>
                    <m:r>
                      <a:rPr lang="ar-AE" sz="1200" b="0" i="0">
                        <a:latin typeface="Cambria Math" panose="02040503050406030204" pitchFamily="18" charset="0"/>
                      </a:rPr>
                      <m:t>08</m:t>
                    </m:r>
                    <m:r>
                      <m:rPr>
                        <m:nor/>
                      </m:rPr>
                      <a:rPr lang="ar-AE" sz="1200">
                        <a:latin typeface="Arial" panose="020B0604020202020204" pitchFamily="34" charset="0"/>
                        <a:cs typeface="Arial" panose="020B0604020202020204" pitchFamily="34" charset="0"/>
                      </a:rPr>
                      <m:t> </m:t>
                    </m:r>
                    <m:r>
                      <m:rPr>
                        <m:sty m:val="p"/>
                      </m:rPr>
                      <a:rPr lang="ar-AE" sz="1200" b="0" i="0">
                        <a:latin typeface="Cambria Math" panose="02040503050406030204" pitchFamily="18" charset="0"/>
                      </a:rPr>
                      <m:t>μm</m:t>
                    </m:r>
                  </m:oMath>
                </a14:m>
                <a:r>
                  <a:rPr lang="es-ES" sz="1200" dirty="0">
                    <a:latin typeface="Arial" panose="020B0604020202020204" pitchFamily="34" charset="0"/>
                    <a:cs typeface="Arial" panose="020B0604020202020204" pitchFamily="34" charset="0"/>
                  </a:rPr>
                  <a:t> cumple el diseño.</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Por un lado, la función de transferencia muestra caídas de transmisión en las longitudes de onda resonantes porque, en esos puntos, la luz se acopla al anillo y recircula dentro de él, reduciendo la potencia que sigue por la guía principal.</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Por otro lado, el valor del acoplador afecta a la profundidad de las resonancias: si se acopla poca potencia al anillo, los mínimos son poco profundos; si se acopla más, las caídas aumentan. En esta simulación los mínimos bajan aproximadamente hasta 0.1 en escala lineal, mientras que los máximos están cerca de 1, por lo que:</a:t>
                </a:r>
              </a:p>
              <a:p>
                <a:pPr algn="just"/>
                <a14:m>
                  <m:oMathPara xmlns:m="http://schemas.openxmlformats.org/officeDocument/2006/math">
                    <m:oMathParaPr>
                      <m:jc m:val="centerGroup"/>
                    </m:oMathParaPr>
                    <m:oMath xmlns:m="http://schemas.openxmlformats.org/officeDocument/2006/math">
                      <m:r>
                        <m:rPr>
                          <m:sty m:val="p"/>
                        </m:rPr>
                        <a:rPr lang="es-ES" sz="1200" b="0" i="0">
                          <a:latin typeface="Cambria Math" panose="02040503050406030204" pitchFamily="18" charset="0"/>
                        </a:rPr>
                        <m:t>ER</m:t>
                      </m:r>
                      <m:r>
                        <a:rPr lang="es-ES" sz="1200" b="0" i="0">
                          <a:latin typeface="Cambria Math" panose="02040503050406030204" pitchFamily="18" charset="0"/>
                        </a:rPr>
                        <m:t>≈</m:t>
                      </m:r>
                      <m:r>
                        <a:rPr lang="es-ES" sz="1200" b="0" i="0">
                          <a:latin typeface="Cambria Math" panose="02040503050406030204" pitchFamily="18" charset="0"/>
                        </a:rPr>
                        <m:t>10</m:t>
                      </m:r>
                      <m:sSub>
                        <m:sSubPr>
                          <m:ctrlPr>
                            <a:rPr lang="ar-AE" sz="1200" i="1">
                              <a:latin typeface="Cambria Math" panose="02040503050406030204" pitchFamily="18" charset="0"/>
                            </a:rPr>
                          </m:ctrlPr>
                        </m:sSubPr>
                        <m:e>
                          <m:func>
                            <m:funcPr>
                              <m:ctrlPr>
                                <a:rPr lang="ar-AE" sz="1200" i="1">
                                  <a:latin typeface="Cambria Math" panose="02040503050406030204" pitchFamily="18" charset="0"/>
                                </a:rPr>
                              </m:ctrlPr>
                            </m:funcPr>
                            <m:fName>
                              <m:r>
                                <m:rPr>
                                  <m:sty m:val="p"/>
                                </m:rPr>
                                <a:rPr lang="es-ES" sz="1200" b="0" i="0">
                                  <a:latin typeface="Cambria Math" panose="02040503050406030204" pitchFamily="18" charset="0"/>
                                </a:rPr>
                                <m:t>log</m:t>
                              </m:r>
                            </m:fName>
                            <m:e>
                              <m:r>
                                <a:rPr lang="es-ES" sz="1200" b="0" i="0" smtClean="0">
                                  <a:latin typeface="Cambria Math" panose="02040503050406030204" pitchFamily="18" charset="0"/>
                                </a:rPr>
                                <m:t> </m:t>
                              </m:r>
                            </m:e>
                          </m:func>
                        </m:e>
                        <m:sub>
                          <m:r>
                            <a:rPr lang="ar-AE" sz="1200" b="0" i="0">
                              <a:latin typeface="Cambria Math" panose="02040503050406030204" pitchFamily="18" charset="0"/>
                            </a:rPr>
                            <m:t>10</m:t>
                          </m:r>
                        </m:sub>
                      </m:sSub>
                      <m:d>
                        <m:dPr>
                          <m:ctrlPr>
                            <a:rPr lang="ar-AE" sz="1200" i="1">
                              <a:latin typeface="Cambria Math" panose="02040503050406030204" pitchFamily="18" charset="0"/>
                            </a:rPr>
                          </m:ctrlPr>
                        </m:dPr>
                        <m:e>
                          <m:f>
                            <m:fPr>
                              <m:ctrlPr>
                                <a:rPr lang="ar-AE" sz="1200" i="1">
                                  <a:latin typeface="Cambria Math" panose="02040503050406030204" pitchFamily="18" charset="0"/>
                                </a:rPr>
                              </m:ctrlPr>
                            </m:fPr>
                            <m:num>
                              <m:r>
                                <m:rPr>
                                  <m:sty m:val="p"/>
                                </m:rPr>
                                <a:rPr lang="es-ES" sz="1200" b="0" i="0" smtClean="0">
                                  <a:latin typeface="Cambria Math" panose="02040503050406030204" pitchFamily="18" charset="0"/>
                                </a:rPr>
                                <m:t>Pm</m:t>
                              </m:r>
                              <m:r>
                                <a:rPr lang="es-ES" sz="1200" b="0" i="0" smtClean="0">
                                  <a:latin typeface="Cambria Math" panose="02040503050406030204" pitchFamily="18" charset="0"/>
                                </a:rPr>
                                <m:t>á</m:t>
                              </m:r>
                              <m:r>
                                <m:rPr>
                                  <m:sty m:val="p"/>
                                </m:rPr>
                                <a:rPr lang="es-ES" sz="1200" b="0" i="0" smtClean="0">
                                  <a:latin typeface="Cambria Math" panose="02040503050406030204" pitchFamily="18" charset="0"/>
                                </a:rPr>
                                <m:t>x</m:t>
                              </m:r>
                            </m:num>
                            <m:den>
                              <m:r>
                                <m:rPr>
                                  <m:sty m:val="p"/>
                                </m:rPr>
                                <a:rPr lang="es-ES" sz="1200" b="0" i="0" smtClean="0">
                                  <a:latin typeface="Cambria Math" panose="02040503050406030204" pitchFamily="18" charset="0"/>
                                </a:rPr>
                                <m:t>Pm</m:t>
                              </m:r>
                              <m:r>
                                <a:rPr lang="es-ES" sz="1200" b="0" i="0" smtClean="0">
                                  <a:latin typeface="Cambria Math" panose="02040503050406030204" pitchFamily="18" charset="0"/>
                                </a:rPr>
                                <m:t>í</m:t>
                              </m:r>
                              <m:r>
                                <m:rPr>
                                  <m:sty m:val="p"/>
                                </m:rPr>
                                <a:rPr lang="es-ES" sz="1200" b="0" i="0" smtClean="0">
                                  <a:latin typeface="Cambria Math" panose="02040503050406030204" pitchFamily="18" charset="0"/>
                                </a:rPr>
                                <m:t>n</m:t>
                              </m:r>
                            </m:den>
                          </m:f>
                        </m:e>
                      </m:d>
                      <m:r>
                        <a:rPr lang="es-ES" sz="1200" b="0" i="0" smtClean="0">
                          <a:latin typeface="Cambria Math" panose="02040503050406030204" pitchFamily="18" charset="0"/>
                        </a:rPr>
                        <m:t>=</m:t>
                      </m:r>
                      <m:r>
                        <a:rPr lang="es-ES" sz="1200" b="0" i="0">
                          <a:latin typeface="Cambria Math" panose="02040503050406030204" pitchFamily="18" charset="0"/>
                        </a:rPr>
                        <m:t>10</m:t>
                      </m:r>
                      <m:sSub>
                        <m:sSubPr>
                          <m:ctrlPr>
                            <a:rPr lang="ar-AE" sz="1200" i="1">
                              <a:latin typeface="Cambria Math" panose="02040503050406030204" pitchFamily="18" charset="0"/>
                            </a:rPr>
                          </m:ctrlPr>
                        </m:sSubPr>
                        <m:e>
                          <m:func>
                            <m:funcPr>
                              <m:ctrlPr>
                                <a:rPr lang="ar-AE" sz="1200" i="1">
                                  <a:latin typeface="Cambria Math" panose="02040503050406030204" pitchFamily="18" charset="0"/>
                                </a:rPr>
                              </m:ctrlPr>
                            </m:funcPr>
                            <m:fName>
                              <m:r>
                                <m:rPr>
                                  <m:sty m:val="p"/>
                                </m:rPr>
                                <a:rPr lang="es-ES" sz="1200" b="0" i="0">
                                  <a:latin typeface="Cambria Math" panose="02040503050406030204" pitchFamily="18" charset="0"/>
                                </a:rPr>
                                <m:t>log</m:t>
                              </m:r>
                            </m:fName>
                            <m:e>
                              <m:r>
                                <a:rPr lang="es-ES" sz="1200" b="0" i="0">
                                  <a:latin typeface="Cambria Math" panose="02040503050406030204" pitchFamily="18" charset="0"/>
                                </a:rPr>
                                <m:t> </m:t>
                              </m:r>
                            </m:e>
                          </m:func>
                        </m:e>
                        <m:sub>
                          <m:r>
                            <a:rPr lang="ar-AE" sz="1200" b="0" i="0">
                              <a:latin typeface="Cambria Math" panose="02040503050406030204" pitchFamily="18" charset="0"/>
                            </a:rPr>
                            <m:t>10</m:t>
                          </m:r>
                        </m:sub>
                      </m:sSub>
                      <m:d>
                        <m:dPr>
                          <m:ctrlPr>
                            <a:rPr lang="ar-AE" sz="1200" i="1">
                              <a:latin typeface="Cambria Math" panose="02040503050406030204" pitchFamily="18" charset="0"/>
                            </a:rPr>
                          </m:ctrlPr>
                        </m:dPr>
                        <m:e>
                          <m:f>
                            <m:fPr>
                              <m:ctrlPr>
                                <a:rPr lang="ar-AE" sz="1200" i="1">
                                  <a:latin typeface="Cambria Math" panose="02040503050406030204" pitchFamily="18" charset="0"/>
                                </a:rPr>
                              </m:ctrlPr>
                            </m:fPr>
                            <m:num>
                              <m:r>
                                <a:rPr lang="es-ES" sz="1200" b="0" i="0" smtClean="0">
                                  <a:latin typeface="Cambria Math" panose="02040503050406030204" pitchFamily="18" charset="0"/>
                                </a:rPr>
                                <m:t>1</m:t>
                              </m:r>
                            </m:num>
                            <m:den>
                              <m:r>
                                <a:rPr lang="es-ES" sz="1200" b="0" i="0" smtClean="0">
                                  <a:latin typeface="Cambria Math" panose="02040503050406030204" pitchFamily="18" charset="0"/>
                                </a:rPr>
                                <m:t>0</m:t>
                              </m:r>
                              <m:r>
                                <a:rPr lang="es-ES" sz="1200" b="0" i="0" smtClean="0">
                                  <a:latin typeface="Cambria Math" panose="02040503050406030204" pitchFamily="18" charset="0"/>
                                </a:rPr>
                                <m:t>.</m:t>
                              </m:r>
                              <m:r>
                                <a:rPr lang="es-ES" sz="1200" b="0" i="0" smtClean="0">
                                  <a:latin typeface="Cambria Math" panose="02040503050406030204" pitchFamily="18" charset="0"/>
                                </a:rPr>
                                <m:t>1</m:t>
                              </m:r>
                            </m:den>
                          </m:f>
                        </m:e>
                      </m:d>
                      <m:r>
                        <a:rPr lang="ar-AE" sz="1200" b="0" i="0">
                          <a:latin typeface="Cambria Math" panose="02040503050406030204" pitchFamily="18" charset="0"/>
                        </a:rPr>
                        <m:t>≈</m:t>
                      </m:r>
                      <m:r>
                        <a:rPr lang="ar-AE" sz="1200" b="0" i="0">
                          <a:latin typeface="Cambria Math" panose="02040503050406030204" pitchFamily="18" charset="0"/>
                        </a:rPr>
                        <m:t>10</m:t>
                      </m:r>
                      <m:r>
                        <m:rPr>
                          <m:nor/>
                        </m:rPr>
                        <a:rPr lang="ar-AE" sz="1200">
                          <a:latin typeface="Arial" panose="020B0604020202020204" pitchFamily="34" charset="0"/>
                          <a:cs typeface="Arial" panose="020B0604020202020204" pitchFamily="34" charset="0"/>
                        </a:rPr>
                        <m:t> </m:t>
                      </m:r>
                      <m:r>
                        <m:rPr>
                          <m:sty m:val="p"/>
                        </m:rPr>
                        <a:rPr lang="ar-AE" sz="1200" b="0" i="0">
                          <a:latin typeface="Cambria Math" panose="02040503050406030204" pitchFamily="18" charset="0"/>
                        </a:rPr>
                        <m:t>dB</m:t>
                      </m:r>
                    </m:oMath>
                  </m:oMathPara>
                </a14:m>
                <a:endParaRPr lang="es-ES" sz="1200" dirty="0">
                  <a:latin typeface="Arial" panose="020B0604020202020204" pitchFamily="34" charset="0"/>
                  <a:cs typeface="Arial" panose="020B0604020202020204" pitchFamily="34" charset="0"/>
                </a:endParaRP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Para conseguir </a:t>
                </a:r>
                <a:r>
                  <a:rPr lang="es-ES" sz="1200" dirty="0" err="1">
                    <a:latin typeface="Arial" panose="020B0604020202020204" pitchFamily="34" charset="0"/>
                    <a:cs typeface="Arial" panose="020B0604020202020204" pitchFamily="34" charset="0"/>
                  </a:rPr>
                  <a:t>critical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coupling</a:t>
                </a:r>
                <a:r>
                  <a:rPr lang="es-ES" sz="1200" dirty="0">
                    <a:latin typeface="Arial" panose="020B0604020202020204" pitchFamily="34" charset="0"/>
                    <a:cs typeface="Arial" panose="020B0604020202020204" pitchFamily="34" charset="0"/>
                  </a:rPr>
                  <a:t>, habría que ajustar el coeficiente de acoplo para que la potencia que entra al anillo compense exactamente las pérdidas internas de una vuelta. En ese caso, la interferencia en la salida sería máxima y el mínimo de transmisión sería mucho más profundo.</a:t>
                </a:r>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a:t>
                </a:r>
              </a:p>
            </p:txBody>
          </p:sp>
        </mc:Choice>
        <mc:Fallback xmlns="">
          <p:sp>
            <p:nvSpPr>
              <p:cNvPr id="8" name="CuadroTexto 7">
                <a:extLst>
                  <a:ext uri="{FF2B5EF4-FFF2-40B4-BE49-F238E27FC236}">
                    <a16:creationId xmlns:a16="http://schemas.microsoft.com/office/drawing/2014/main" id="{F3FE1748-030A-4078-D5C7-82D49D6C6C97}"/>
                  </a:ext>
                </a:extLst>
              </p:cNvPr>
              <p:cNvSpPr txBox="1">
                <a:spLocks noRot="1" noChangeAspect="1" noMove="1" noResize="1" noEditPoints="1" noAdjustHandles="1" noChangeArrowheads="1" noChangeShapeType="1" noTextEdit="1"/>
              </p:cNvSpPr>
              <p:nvPr/>
            </p:nvSpPr>
            <p:spPr>
              <a:xfrm>
                <a:off x="583240" y="1371600"/>
                <a:ext cx="11199530" cy="3646639"/>
              </a:xfrm>
              <a:prstGeom prst="rect">
                <a:avLst/>
              </a:prstGeom>
              <a:blipFill>
                <a:blip r:embed="rId2"/>
                <a:stretch>
                  <a:fillRect/>
                </a:stretch>
              </a:blipFill>
              <a:ln w="28575">
                <a:solidFill>
                  <a:srgbClr val="E0700D"/>
                </a:solidFill>
              </a:ln>
            </p:spPr>
            <p:txBody>
              <a:bodyPr/>
              <a:lstStyle/>
              <a:p>
                <a:r>
                  <a:rPr lang="es-ES">
                    <a:noFill/>
                  </a:rPr>
                  <a:t> </a:t>
                </a:r>
              </a:p>
            </p:txBody>
          </p:sp>
        </mc:Fallback>
      </mc:AlternateContent>
      <p:pic>
        <p:nvPicPr>
          <p:cNvPr id="11" name="Gráfico 10">
            <a:extLst>
              <a:ext uri="{FF2B5EF4-FFF2-40B4-BE49-F238E27FC236}">
                <a16:creationId xmlns:a16="http://schemas.microsoft.com/office/drawing/2014/main" id="{8E12FA02-8FC4-CD9A-EAD9-55E9FC0F84B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14" name="object 16">
            <a:extLst>
              <a:ext uri="{FF2B5EF4-FFF2-40B4-BE49-F238E27FC236}">
                <a16:creationId xmlns:a16="http://schemas.microsoft.com/office/drawing/2014/main" id="{F0F15311-6717-1566-EF85-EC6FCDBE2842}"/>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#5 – Ring resonator design</a:t>
            </a:r>
          </a:p>
          <a:p>
            <a:pPr marL="12700">
              <a:spcBef>
                <a:spcPts val="100"/>
              </a:spcBef>
            </a:pPr>
            <a:r>
              <a:rPr lang="en-US" b="0" kern="0" spc="-5" dirty="0">
                <a:latin typeface="+mj-lt"/>
                <a:cs typeface="Lucida Sans"/>
              </a:rPr>
              <a:t>Design the perimeter for a FSR = 15 nm. </a:t>
            </a:r>
          </a:p>
        </p:txBody>
      </p:sp>
    </p:spTree>
    <p:extLst>
      <p:ext uri="{BB962C8B-B14F-4D97-AF65-F5344CB8AC3E}">
        <p14:creationId xmlns:p14="http://schemas.microsoft.com/office/powerpoint/2010/main" val="23914930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F929251A-3DC4-36B2-3FB3-341378364BED}"/>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15</a:t>
            </a:fld>
            <a:endParaRPr lang="en-US" dirty="0"/>
          </a:p>
        </p:txBody>
      </p:sp>
      <p:sp>
        <p:nvSpPr>
          <p:cNvPr id="14" name="Rectángulo 13">
            <a:extLst>
              <a:ext uri="{FF2B5EF4-FFF2-40B4-BE49-F238E27FC236}">
                <a16:creationId xmlns:a16="http://schemas.microsoft.com/office/drawing/2014/main" id="{6AA857E7-5C39-DCE1-10B5-40300FCF4B26}"/>
              </a:ext>
            </a:extLst>
          </p:cNvPr>
          <p:cNvSpPr/>
          <p:nvPr/>
        </p:nvSpPr>
        <p:spPr>
          <a:xfrm>
            <a:off x="685800" y="1419036"/>
            <a:ext cx="5410200" cy="4114465"/>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uadroTexto 9">
            <a:extLst>
              <a:ext uri="{FF2B5EF4-FFF2-40B4-BE49-F238E27FC236}">
                <a16:creationId xmlns:a16="http://schemas.microsoft.com/office/drawing/2014/main" id="{3146642F-220B-8F6A-59A8-2D128DDF3BEB}"/>
              </a:ext>
            </a:extLst>
          </p:cNvPr>
          <p:cNvSpPr txBox="1"/>
          <p:nvPr/>
        </p:nvSpPr>
        <p:spPr>
          <a:xfrm>
            <a:off x="3529935" y="2104638"/>
            <a:ext cx="2033313" cy="1938992"/>
          </a:xfrm>
          <a:prstGeom prst="rect">
            <a:avLst/>
          </a:prstGeom>
          <a:noFill/>
        </p:spPr>
        <p:txBody>
          <a:bodyPr wrap="none" rtlCol="0">
            <a:spAutoFit/>
          </a:bodyPr>
          <a:lstStyle/>
          <a:p>
            <a:pPr algn="ctr"/>
            <a:r>
              <a:rPr lang="es-ES" sz="2000" dirty="0"/>
              <a:t>Single ring</a:t>
            </a:r>
          </a:p>
          <a:p>
            <a:pPr algn="ctr"/>
            <a:r>
              <a:rPr lang="es-ES" sz="2000" dirty="0"/>
              <a:t>transfer </a:t>
            </a:r>
            <a:r>
              <a:rPr lang="es-ES" sz="2000" dirty="0" err="1"/>
              <a:t>functions</a:t>
            </a:r>
            <a:endParaRPr lang="es-ES" sz="2000" dirty="0"/>
          </a:p>
          <a:p>
            <a:pPr algn="ctr"/>
            <a:endParaRPr lang="es-ES" sz="2000" dirty="0"/>
          </a:p>
          <a:p>
            <a:pPr algn="ctr"/>
            <a:r>
              <a:rPr lang="es-ES" sz="2000" dirty="0"/>
              <a:t>Linear </a:t>
            </a:r>
            <a:r>
              <a:rPr lang="es-ES" sz="2000" dirty="0" err="1"/>
              <a:t>units</a:t>
            </a:r>
            <a:endParaRPr lang="es-ES" sz="2000" dirty="0"/>
          </a:p>
          <a:p>
            <a:pPr algn="ctr"/>
            <a:endParaRPr lang="es-ES" sz="2000" dirty="0"/>
          </a:p>
          <a:p>
            <a:pPr algn="ctr"/>
            <a:r>
              <a:rPr lang="es-ES" sz="2000" dirty="0"/>
              <a:t>K=</a:t>
            </a:r>
            <a:endParaRPr lang="en-US" sz="2000" dirty="0"/>
          </a:p>
        </p:txBody>
      </p:sp>
      <p:pic>
        <p:nvPicPr>
          <p:cNvPr id="3" name="Gráfico 2">
            <a:extLst>
              <a:ext uri="{FF2B5EF4-FFF2-40B4-BE49-F238E27FC236}">
                <a16:creationId xmlns:a16="http://schemas.microsoft.com/office/drawing/2014/main" id="{0B245A9E-6C9A-F3A8-E4B7-66158012641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6" name="object 16">
            <a:extLst>
              <a:ext uri="{FF2B5EF4-FFF2-40B4-BE49-F238E27FC236}">
                <a16:creationId xmlns:a16="http://schemas.microsoft.com/office/drawing/2014/main" id="{8266F13B-05F1-81DE-B638-66D10EEB9FA2}"/>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#6a – Effect of K </a:t>
            </a:r>
          </a:p>
          <a:p>
            <a:pPr marL="12700">
              <a:spcBef>
                <a:spcPts val="100"/>
              </a:spcBef>
            </a:pPr>
            <a:r>
              <a:rPr lang="en-US" b="0" kern="0" spc="-5" dirty="0">
                <a:latin typeface="+mj-lt"/>
                <a:cs typeface="Lucida Sans"/>
              </a:rPr>
              <a:t>Change K value between 0.1 and 0.9 in steps of 0.1</a:t>
            </a:r>
          </a:p>
        </p:txBody>
      </p:sp>
      <p:pic>
        <p:nvPicPr>
          <p:cNvPr id="4" name="Imagen 3">
            <a:extLst>
              <a:ext uri="{FF2B5EF4-FFF2-40B4-BE49-F238E27FC236}">
                <a16:creationId xmlns:a16="http://schemas.microsoft.com/office/drawing/2014/main" id="{90C7E63C-F870-18CE-FE43-2DC9321515D5}"/>
              </a:ext>
            </a:extLst>
          </p:cNvPr>
          <p:cNvPicPr>
            <a:picLocks noChangeAspect="1"/>
          </p:cNvPicPr>
          <p:nvPr/>
        </p:nvPicPr>
        <p:blipFill>
          <a:blip r:embed="rId3"/>
          <a:stretch>
            <a:fillRect/>
          </a:stretch>
        </p:blipFill>
        <p:spPr>
          <a:xfrm>
            <a:off x="833859" y="1541527"/>
            <a:ext cx="5237259" cy="3790529"/>
          </a:xfrm>
          <a:prstGeom prst="rect">
            <a:avLst/>
          </a:prstGeom>
        </p:spPr>
      </p:pic>
      <mc:AlternateContent xmlns:mc="http://schemas.openxmlformats.org/markup-compatibility/2006">
        <mc:Choice xmlns:a14="http://schemas.microsoft.com/office/drawing/2010/main" Requires="a14">
          <p:sp>
            <p:nvSpPr>
              <p:cNvPr id="7" name="CuadroTexto 6">
                <a:extLst>
                  <a:ext uri="{FF2B5EF4-FFF2-40B4-BE49-F238E27FC236}">
                    <a16:creationId xmlns:a16="http://schemas.microsoft.com/office/drawing/2014/main" id="{3B4E8CED-CB99-A17B-0D7A-6C4D30ADE644}"/>
                  </a:ext>
                </a:extLst>
              </p:cNvPr>
              <p:cNvSpPr txBox="1"/>
              <p:nvPr/>
            </p:nvSpPr>
            <p:spPr>
              <a:xfrm>
                <a:off x="6553200" y="1419036"/>
                <a:ext cx="5127010" cy="4339650"/>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b="1" i="1"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Comment results: Try to classify the resonances, in which case are you close to critical coupling? Why?</a:t>
                </a:r>
              </a:p>
              <a:p>
                <a:pPr algn="just"/>
                <a:endParaRPr lang="en-US" sz="1200" b="1" i="1"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a:t>
                </a:r>
                <a:r>
                  <a:rPr lang="es-ES" sz="1200" dirty="0">
                    <a:latin typeface="Arial" panose="020B0604020202020204" pitchFamily="34" charset="0"/>
                    <a:cs typeface="Arial" panose="020B0604020202020204" pitchFamily="34" charset="0"/>
                  </a:rPr>
                  <a:t>l cambiar </a:t>
                </a:r>
                <a14:m>
                  <m:oMath xmlns:m="http://schemas.openxmlformats.org/officeDocument/2006/math">
                    <m:r>
                      <m:rPr>
                        <m:sty m:val="p"/>
                      </m:rPr>
                      <a:rPr lang="es-ES" sz="1200" b="0" i="0"/>
                      <m:t>K</m:t>
                    </m:r>
                  </m:oMath>
                </a14:m>
                <a:r>
                  <a:rPr lang="es-ES" sz="1200" dirty="0">
                    <a:latin typeface="Arial" panose="020B0604020202020204" pitchFamily="34" charset="0"/>
                    <a:cs typeface="Arial" panose="020B0604020202020204" pitchFamily="34" charset="0"/>
                  </a:rPr>
                  <a:t>, cambia cuánta potencia se acopla al anillo. Para valores bajos, como </a:t>
                </a:r>
                <a14:m>
                  <m:oMath xmlns:m="http://schemas.openxmlformats.org/officeDocument/2006/math">
                    <m:r>
                      <m:rPr>
                        <m:sty m:val="p"/>
                      </m:rPr>
                      <a:rPr lang="es-ES" sz="1200" b="0" i="0"/>
                      <m:t>K</m:t>
                    </m:r>
                    <m:r>
                      <a:rPr lang="es-ES" sz="1200" b="0" i="0"/>
                      <m:t>=</m:t>
                    </m:r>
                    <m:r>
                      <a:rPr lang="es-ES" sz="1200" b="0" i="0"/>
                      <m:t>0</m:t>
                    </m:r>
                    <m:r>
                      <a:rPr lang="es-ES" sz="1200" b="0" i="0"/>
                      <m:t>.</m:t>
                    </m:r>
                    <m:r>
                      <a:rPr lang="es-ES" sz="1200" b="0" i="0"/>
                      <m:t>1</m:t>
                    </m:r>
                  </m:oMath>
                </a14:m>
                <a:r>
                  <a:rPr lang="es-ES" sz="1200" dirty="0">
                    <a:latin typeface="Arial" panose="020B0604020202020204" pitchFamily="34" charset="0"/>
                    <a:cs typeface="Arial" panose="020B0604020202020204" pitchFamily="34" charset="0"/>
                  </a:rPr>
                  <a:t> o y </a:t>
                </a:r>
                <a14:m>
                  <m:oMath xmlns:m="http://schemas.openxmlformats.org/officeDocument/2006/math">
                    <m:r>
                      <m:rPr>
                        <m:sty m:val="p"/>
                      </m:rPr>
                      <a:rPr lang="es-ES" sz="1200" b="0" i="0"/>
                      <m:t>K</m:t>
                    </m:r>
                    <m:r>
                      <a:rPr lang="es-ES" sz="1200" b="0" i="0"/>
                      <m:t>=</m:t>
                    </m:r>
                    <m:r>
                      <a:rPr lang="es-ES" sz="1200" b="0" i="0"/>
                      <m:t>0</m:t>
                    </m:r>
                    <m:r>
                      <a:rPr lang="es-ES" sz="1200" b="0" i="0"/>
                      <m:t>.</m:t>
                    </m:r>
                    <m:r>
                      <a:rPr lang="es-ES" sz="1200" b="0" i="0"/>
                      <m:t>2</m:t>
                    </m:r>
                  </m:oMath>
                </a14:m>
                <a:r>
                  <a:rPr lang="es-ES" sz="1200" dirty="0">
                    <a:latin typeface="Arial" panose="020B0604020202020204" pitchFamily="34" charset="0"/>
                    <a:cs typeface="Arial" panose="020B0604020202020204" pitchFamily="34" charset="0"/>
                  </a:rPr>
                  <a:t>, entra poca luz en el resonador, así que la caída de transmisión es pequeña y la resonancia es débil.</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Al aumentar </a:t>
                </a:r>
                <a14:m>
                  <m:oMath xmlns:m="http://schemas.openxmlformats.org/officeDocument/2006/math">
                    <m:r>
                      <m:rPr>
                        <m:sty m:val="p"/>
                      </m:rPr>
                      <a:rPr lang="es-ES" sz="1200" b="0" i="0"/>
                      <m:t>K</m:t>
                    </m:r>
                  </m:oMath>
                </a14:m>
                <a:r>
                  <a:rPr lang="es-ES" sz="1200" dirty="0">
                    <a:latin typeface="Arial" panose="020B0604020202020204" pitchFamily="34" charset="0"/>
                    <a:cs typeface="Arial" panose="020B0604020202020204" pitchFamily="34" charset="0"/>
                  </a:rPr>
                  <a:t>, el mínimo se hace más profundo porque se acopla más potencia al anillo. El caso más cercano al </a:t>
                </a:r>
                <a:r>
                  <a:rPr lang="es-ES" sz="1200" dirty="0" err="1">
                    <a:latin typeface="Arial" panose="020B0604020202020204" pitchFamily="34" charset="0"/>
                    <a:cs typeface="Arial" panose="020B0604020202020204" pitchFamily="34" charset="0"/>
                  </a:rPr>
                  <a:t>critical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coupling</a:t>
                </a:r>
                <a:r>
                  <a:rPr lang="es-ES" sz="1200" dirty="0">
                    <a:latin typeface="Arial" panose="020B0604020202020204" pitchFamily="34" charset="0"/>
                    <a:cs typeface="Arial" panose="020B0604020202020204" pitchFamily="34" charset="0"/>
                  </a:rPr>
                  <a:t> es </a:t>
                </a:r>
                <a14:m>
                  <m:oMath xmlns:m="http://schemas.openxmlformats.org/officeDocument/2006/math">
                    <m:r>
                      <m:rPr>
                        <m:sty m:val="p"/>
                      </m:rPr>
                      <a:rPr lang="es-ES" sz="1200" b="0" i="0"/>
                      <m:t>K</m:t>
                    </m:r>
                    <m:r>
                      <a:rPr lang="es-ES" sz="1200" b="0" i="0"/>
                      <m:t>=</m:t>
                    </m:r>
                    <m:r>
                      <a:rPr lang="es-ES" sz="1200" b="0" i="0"/>
                      <m:t>0</m:t>
                    </m:r>
                    <m:r>
                      <a:rPr lang="es-ES" sz="1200" b="0" i="0"/>
                      <m:t>.</m:t>
                    </m:r>
                    <m:r>
                      <a:rPr lang="es-ES" sz="1200" b="0" i="0"/>
                      <m:t>3</m:t>
                    </m:r>
                  </m:oMath>
                </a14:m>
                <a:r>
                  <a:rPr lang="es-ES" sz="1200" dirty="0">
                    <a:latin typeface="Arial" panose="020B0604020202020204" pitchFamily="34" charset="0"/>
                    <a:cs typeface="Arial" panose="020B0604020202020204" pitchFamily="34" charset="0"/>
                  </a:rPr>
                  <a:t>,  porque en ese punto el acoplo hacia el anillo se compensa mejor con las pérdidas internas del resonador. Así se consigue una cancelación más fuerte en la salida.</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Para valores mayores de </a:t>
                </a:r>
                <a14:m>
                  <m:oMath xmlns:m="http://schemas.openxmlformats.org/officeDocument/2006/math">
                    <m:r>
                      <m:rPr>
                        <m:sty m:val="p"/>
                      </m:rPr>
                      <a:rPr lang="es-ES" sz="1200" b="0" i="0"/>
                      <m:t>K</m:t>
                    </m:r>
                  </m:oMath>
                </a14:m>
                <a:r>
                  <a:rPr lang="es-ES" sz="1200" dirty="0">
                    <a:latin typeface="Arial" panose="020B0604020202020204" pitchFamily="34" charset="0"/>
                    <a:cs typeface="Arial" panose="020B0604020202020204" pitchFamily="34" charset="0"/>
                  </a:rPr>
                  <a:t> como </a:t>
                </a:r>
                <a14:m>
                  <m:oMath xmlns:m="http://schemas.openxmlformats.org/officeDocument/2006/math">
                    <m:r>
                      <m:rPr>
                        <m:sty m:val="p"/>
                      </m:rPr>
                      <a:rPr lang="es-ES" sz="1200">
                        <a:latin typeface="Cambria Math" panose="02040503050406030204" pitchFamily="18" charset="0"/>
                      </a:rPr>
                      <m:t>K</m:t>
                    </m:r>
                    <m:r>
                      <a:rPr lang="es-ES" sz="1200">
                        <a:latin typeface="Cambria Math" panose="02040503050406030204" pitchFamily="18" charset="0"/>
                      </a:rPr>
                      <m:t>=</m:t>
                    </m:r>
                    <m:r>
                      <a:rPr lang="es-ES" sz="1200">
                        <a:latin typeface="Cambria Math" panose="02040503050406030204" pitchFamily="18" charset="0"/>
                      </a:rPr>
                      <m:t>0</m:t>
                    </m:r>
                    <m:r>
                      <a:rPr lang="es-ES" sz="1200">
                        <a:latin typeface="Cambria Math" panose="02040503050406030204" pitchFamily="18" charset="0"/>
                      </a:rPr>
                      <m:t>.</m:t>
                    </m:r>
                    <m:r>
                      <a:rPr lang="es-ES" sz="1200" b="0" i="0" smtClean="0">
                        <a:latin typeface="Cambria Math" panose="02040503050406030204" pitchFamily="18" charset="0"/>
                      </a:rPr>
                      <m:t>7</m:t>
                    </m:r>
                  </m:oMath>
                </a14:m>
                <a:r>
                  <a:rPr lang="es-ES" sz="1200" dirty="0">
                    <a:latin typeface="Arial" panose="020B0604020202020204" pitchFamily="34" charset="0"/>
                    <a:cs typeface="Arial" panose="020B0604020202020204" pitchFamily="34" charset="0"/>
                  </a:rPr>
                  <a:t> o </a:t>
                </a:r>
                <a14:m>
                  <m:oMath xmlns:m="http://schemas.openxmlformats.org/officeDocument/2006/math">
                    <m:r>
                      <m:rPr>
                        <m:sty m:val="p"/>
                      </m:rPr>
                      <a:rPr lang="es-ES" sz="1200">
                        <a:latin typeface="Cambria Math" panose="02040503050406030204" pitchFamily="18" charset="0"/>
                      </a:rPr>
                      <m:t>K</m:t>
                    </m:r>
                    <m:r>
                      <a:rPr lang="es-ES" sz="1200">
                        <a:latin typeface="Cambria Math" panose="02040503050406030204" pitchFamily="18" charset="0"/>
                      </a:rPr>
                      <m:t>=</m:t>
                    </m:r>
                    <m:r>
                      <a:rPr lang="es-ES" sz="1200">
                        <a:latin typeface="Cambria Math" panose="02040503050406030204" pitchFamily="18" charset="0"/>
                      </a:rPr>
                      <m:t>0</m:t>
                    </m:r>
                    <m:r>
                      <a:rPr lang="es-ES" sz="1200">
                        <a:latin typeface="Cambria Math" panose="02040503050406030204" pitchFamily="18" charset="0"/>
                      </a:rPr>
                      <m:t>.</m:t>
                    </m:r>
                    <m:r>
                      <a:rPr lang="es-ES" sz="1200" b="0" i="0" smtClean="0">
                        <a:latin typeface="Cambria Math" panose="02040503050406030204" pitchFamily="18" charset="0"/>
                      </a:rPr>
                      <m:t>8</m:t>
                    </m:r>
                  </m:oMath>
                </a14:m>
                <a:r>
                  <a:rPr lang="es-ES" sz="1200" dirty="0">
                    <a:latin typeface="Arial" panose="020B0604020202020204" pitchFamily="34" charset="0"/>
                    <a:cs typeface="Arial" panose="020B0604020202020204" pitchFamily="34" charset="0"/>
                  </a:rPr>
                  <a:t>, </a:t>
                </a:r>
                <a14:m>
                  <m:oMath xmlns:m="http://schemas.openxmlformats.org/officeDocument/2006/math">
                    <m:r>
                      <m:rPr>
                        <m:sty m:val="p"/>
                      </m:rPr>
                      <a:rPr lang="es-ES" sz="1200">
                        <a:latin typeface="Cambria Math" panose="02040503050406030204" pitchFamily="18" charset="0"/>
                      </a:rPr>
                      <m:t>K</m:t>
                    </m:r>
                    <m:r>
                      <a:rPr lang="es-ES" sz="1200">
                        <a:latin typeface="Cambria Math" panose="02040503050406030204" pitchFamily="18" charset="0"/>
                      </a:rPr>
                      <m:t>=</m:t>
                    </m:r>
                    <m:r>
                      <a:rPr lang="es-ES" sz="1200">
                        <a:latin typeface="Cambria Math" panose="02040503050406030204" pitchFamily="18" charset="0"/>
                      </a:rPr>
                      <m:t>0</m:t>
                    </m:r>
                    <m:r>
                      <a:rPr lang="es-ES" sz="1200">
                        <a:latin typeface="Cambria Math" panose="02040503050406030204" pitchFamily="18" charset="0"/>
                      </a:rPr>
                      <m:t>.</m:t>
                    </m:r>
                    <m:r>
                      <a:rPr lang="es-ES" sz="1200" b="0" i="0" smtClean="0">
                        <a:latin typeface="Cambria Math" panose="02040503050406030204" pitchFamily="18" charset="0"/>
                      </a:rPr>
                      <m:t>9</m:t>
                    </m:r>
                  </m:oMath>
                </a14:m>
                <a:r>
                  <a:rPr lang="es-ES" sz="1200" dirty="0">
                    <a:latin typeface="Arial" panose="020B0604020202020204" pitchFamily="34" charset="0"/>
                    <a:cs typeface="Arial" panose="020B0604020202020204" pitchFamily="34" charset="0"/>
                  </a:rPr>
                  <a:t> la resonancia vuelve a ser menos profunda, porque se supera el punto óptimo de acoplo y el anillo queda </a:t>
                </a:r>
                <a:r>
                  <a:rPr lang="es-ES" sz="1200" dirty="0" err="1">
                    <a:latin typeface="Arial" panose="020B0604020202020204" pitchFamily="34" charset="0"/>
                    <a:cs typeface="Arial" panose="020B0604020202020204" pitchFamily="34" charset="0"/>
                  </a:rPr>
                  <a:t>sobreacoplado</a:t>
                </a:r>
                <a:r>
                  <a:rPr lang="es-ES" sz="1200" dirty="0">
                    <a:latin typeface="Arial" panose="020B0604020202020204" pitchFamily="34" charset="0"/>
                    <a:cs typeface="Arial" panose="020B0604020202020204" pitchFamily="34" charset="0"/>
                  </a:rPr>
                  <a:t>. Aun así, se ve que una </a:t>
                </a:r>
                <a14:m>
                  <m:oMath xmlns:m="http://schemas.openxmlformats.org/officeDocument/2006/math">
                    <m:r>
                      <m:rPr>
                        <m:sty m:val="p"/>
                      </m:rPr>
                      <a:rPr lang="es-ES" sz="1200" b="0" i="0"/>
                      <m:t>K</m:t>
                    </m:r>
                  </m:oMath>
                </a14:m>
                <a:r>
                  <a:rPr lang="es-ES" sz="1200" dirty="0">
                    <a:latin typeface="Arial" panose="020B0604020202020204" pitchFamily="34" charset="0"/>
                    <a:cs typeface="Arial" panose="020B0604020202020204" pitchFamily="34" charset="0"/>
                  </a:rPr>
                  <a:t> baja suele dar mejor contraste que una </a:t>
                </a:r>
                <a14:m>
                  <m:oMath xmlns:m="http://schemas.openxmlformats.org/officeDocument/2006/math">
                    <m:r>
                      <m:rPr>
                        <m:sty m:val="p"/>
                      </m:rPr>
                      <a:rPr lang="es-ES" sz="1200" b="0" i="0"/>
                      <m:t>K</m:t>
                    </m:r>
                  </m:oMath>
                </a14:m>
                <a:r>
                  <a:rPr lang="es-ES" sz="1200" dirty="0">
                    <a:latin typeface="Arial" panose="020B0604020202020204" pitchFamily="34" charset="0"/>
                    <a:cs typeface="Arial" panose="020B0604020202020204" pitchFamily="34" charset="0"/>
                  </a:rPr>
                  <a:t> muy alta, porque con </a:t>
                </a:r>
                <a14:m>
                  <m:oMath xmlns:m="http://schemas.openxmlformats.org/officeDocument/2006/math">
                    <m:r>
                      <m:rPr>
                        <m:sty m:val="p"/>
                      </m:rPr>
                      <a:rPr lang="es-ES" sz="1200" b="0" i="0"/>
                      <m:t>K</m:t>
                    </m:r>
                    <m:r>
                      <a:rPr lang="es-ES" sz="1200" b="0" i="0" smtClean="0">
                        <a:latin typeface="Cambria Math" panose="02040503050406030204" pitchFamily="18" charset="0"/>
                      </a:rPr>
                      <m:t> </m:t>
                    </m:r>
                  </m:oMath>
                </a14:m>
                <a:r>
                  <a:rPr lang="es-ES" sz="1200" dirty="0">
                    <a:latin typeface="Arial" panose="020B0604020202020204" pitchFamily="34" charset="0"/>
                    <a:cs typeface="Arial" panose="020B0604020202020204" pitchFamily="34" charset="0"/>
                  </a:rPr>
                  <a:t>muy alta el acoplo es excesivo y la cancelación empeora y el mínimo de transmisión sube. </a:t>
                </a:r>
              </a:p>
              <a:p>
                <a:pPr algn="just"/>
                <a:r>
                  <a:rPr lang="es-ES" sz="1200" dirty="0">
                    <a:latin typeface="Arial" panose="020B0604020202020204" pitchFamily="34" charset="0"/>
                    <a:cs typeface="Arial" panose="020B0604020202020204" pitchFamily="34" charset="0"/>
                  </a:rPr>
                  <a:t>Por todo esto, concluimos que el mejor resultado es aproximadamente</a:t>
                </a:r>
                <a:endParaRPr lang="es-ES" sz="1200" b="0" i="0" dirty="0">
                  <a:latin typeface="Arial" panose="020B0604020202020204" pitchFamily="34" charset="0"/>
                  <a:cs typeface="Arial" panose="020B0604020202020204" pitchFamily="34" charset="0"/>
                </a:endParaRPr>
              </a:p>
              <a:p>
                <a:pPr algn="just"/>
                <a14:m>
                  <m:oMath xmlns:m="http://schemas.openxmlformats.org/officeDocument/2006/math">
                    <m:r>
                      <m:rPr>
                        <m:sty m:val="p"/>
                      </m:rPr>
                      <a:rPr lang="es-ES" sz="1200" b="0" i="0"/>
                      <m:t>K</m:t>
                    </m:r>
                    <m:r>
                      <a:rPr lang="es-ES" sz="1200" b="0" i="0"/>
                      <m:t>=</m:t>
                    </m:r>
                    <m:r>
                      <a:rPr lang="es-ES" sz="1200" b="0" i="0"/>
                      <m:t>0</m:t>
                    </m:r>
                    <m:r>
                      <a:rPr lang="es-ES" sz="1200" b="0" i="0"/>
                      <m:t>.</m:t>
                    </m:r>
                    <m:r>
                      <a:rPr lang="es-ES" sz="1200" b="0" i="0"/>
                      <m:t>3</m:t>
                    </m:r>
                  </m:oMath>
                </a14:m>
                <a:r>
                  <a:rPr lang="es-E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mc:Choice>
        <mc:Fallback>
          <p:sp>
            <p:nvSpPr>
              <p:cNvPr id="7" name="CuadroTexto 6">
                <a:extLst>
                  <a:ext uri="{FF2B5EF4-FFF2-40B4-BE49-F238E27FC236}">
                    <a16:creationId xmlns:a16="http://schemas.microsoft.com/office/drawing/2014/main" id="{3B4E8CED-CB99-A17B-0D7A-6C4D30ADE644}"/>
                  </a:ext>
                </a:extLst>
              </p:cNvPr>
              <p:cNvSpPr txBox="1">
                <a:spLocks noRot="1" noChangeAspect="1" noMove="1" noResize="1" noEditPoints="1" noAdjustHandles="1" noChangeArrowheads="1" noChangeShapeType="1" noTextEdit="1"/>
              </p:cNvSpPr>
              <p:nvPr/>
            </p:nvSpPr>
            <p:spPr>
              <a:xfrm>
                <a:off x="6553200" y="1419036"/>
                <a:ext cx="5127010" cy="4339650"/>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9316252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F929251A-3DC4-36B2-3FB3-341378364BED}"/>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16</a:t>
            </a:fld>
            <a:endParaRPr lang="en-US" dirty="0"/>
          </a:p>
        </p:txBody>
      </p:sp>
      <mc:AlternateContent xmlns:mc="http://schemas.openxmlformats.org/markup-compatibility/2006">
        <mc:Choice xmlns:a14="http://schemas.microsoft.com/office/drawing/2010/main" Requires="a14">
          <p:sp>
            <p:nvSpPr>
              <p:cNvPr id="8" name="CuadroTexto 7">
                <a:extLst>
                  <a:ext uri="{FF2B5EF4-FFF2-40B4-BE49-F238E27FC236}">
                    <a16:creationId xmlns:a16="http://schemas.microsoft.com/office/drawing/2014/main" id="{D9601617-351E-AE1A-1F4D-693F2EA59361}"/>
                  </a:ext>
                </a:extLst>
              </p:cNvPr>
              <p:cNvSpPr txBox="1"/>
              <p:nvPr/>
            </p:nvSpPr>
            <p:spPr>
              <a:xfrm>
                <a:off x="7391400" y="1421483"/>
                <a:ext cx="4063181" cy="4154984"/>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b="1" i="1"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Comment results. Try to classify the resonances, in which case are you close to critical coupling? Why?</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Al aumentar las pérdidas del anillo, la resonancia cambia de profundidad. Para pérdidas bajas, como </a:t>
                </a:r>
                <a14:m>
                  <m:oMath xmlns:m="http://schemas.openxmlformats.org/officeDocument/2006/math">
                    <m:r>
                      <m:rPr>
                        <m:sty m:val="p"/>
                      </m:rPr>
                      <a:rPr lang="es-ES" sz="1200" b="0" i="0"/>
                      <m:t>α</m:t>
                    </m:r>
                    <m:r>
                      <a:rPr lang="es-ES" sz="1200" b="0" i="0"/>
                      <m:t>=0</m:t>
                    </m:r>
                  </m:oMath>
                </a14:m>
                <a:r>
                  <a:rPr lang="es-ES" sz="1200" dirty="0">
                    <a:latin typeface="Arial" panose="020B0604020202020204" pitchFamily="34" charset="0"/>
                    <a:cs typeface="Arial" panose="020B0604020202020204" pitchFamily="34" charset="0"/>
                  </a:rPr>
                  <a:t>o </a:t>
                </a:r>
                <a14:m>
                  <m:oMath xmlns:m="http://schemas.openxmlformats.org/officeDocument/2006/math">
                    <m:r>
                      <a:rPr lang="es-ES" sz="1200" b="0" i="0"/>
                      <m:t>1</m:t>
                    </m:r>
                    <m:r>
                      <m:rPr>
                        <m:nor/>
                      </m:rPr>
                      <a:rPr lang="es-ES" sz="1200">
                        <a:latin typeface="Arial" panose="020B0604020202020204" pitchFamily="34" charset="0"/>
                        <a:cs typeface="Arial" panose="020B0604020202020204" pitchFamily="34" charset="0"/>
                      </a:rPr>
                      <m:t> </m:t>
                    </m:r>
                    <m:r>
                      <m:rPr>
                        <m:sty m:val="p"/>
                      </m:rPr>
                      <a:rPr lang="es-ES" sz="1200" b="0" i="0"/>
                      <m:t>dB</m:t>
                    </m:r>
                    <m:r>
                      <a:rPr lang="es-ES" sz="1200" b="0" i="0"/>
                      <m:t>/</m:t>
                    </m:r>
                    <m:r>
                      <m:rPr>
                        <m:sty m:val="p"/>
                      </m:rPr>
                      <a:rPr lang="es-ES" sz="1200" b="0" i="0"/>
                      <m:t>cm</m:t>
                    </m:r>
                  </m:oMath>
                </a14:m>
                <a:r>
                  <a:rPr lang="es-ES" sz="1200" dirty="0">
                    <a:latin typeface="Arial" panose="020B0604020202020204" pitchFamily="34" charset="0"/>
                    <a:cs typeface="Arial" panose="020B0604020202020204" pitchFamily="34" charset="0"/>
                  </a:rPr>
                  <a:t>, la caída es pequeña porque las pérdidas internas del anillo son bajas y no se compensan bien con el acoplo hacia la guía.</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Cuando las pérdidas aumentan, la transmisión en resonancia baja más. Esto significa que hay más cancelación en la salida, porque las pérdidas internas del anillo se van equilibrando mejor con el acoplo.</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El caso más cercano al </a:t>
                </a:r>
                <a:r>
                  <a:rPr lang="es-ES" sz="1200" dirty="0" err="1">
                    <a:latin typeface="Arial" panose="020B0604020202020204" pitchFamily="34" charset="0"/>
                    <a:cs typeface="Arial" panose="020B0604020202020204" pitchFamily="34" charset="0"/>
                  </a:rPr>
                  <a:t>critical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coupling</a:t>
                </a:r>
                <a:r>
                  <a:rPr lang="es-ES" sz="1200" dirty="0">
                    <a:latin typeface="Arial" panose="020B0604020202020204" pitchFamily="34" charset="0"/>
                    <a:cs typeface="Arial" panose="020B0604020202020204" pitchFamily="34" charset="0"/>
                  </a:rPr>
                  <a:t> es aproximadamente </a:t>
                </a:r>
                <a14:m>
                  <m:oMath xmlns:m="http://schemas.openxmlformats.org/officeDocument/2006/math">
                    <m:r>
                      <m:rPr>
                        <m:sty m:val="p"/>
                      </m:rPr>
                      <a:rPr lang="es-ES" sz="1200" b="0" i="0"/>
                      <m:t>α</m:t>
                    </m:r>
                    <m:r>
                      <a:rPr lang="es-ES" sz="1200" b="0" i="0"/>
                      <m:t>=8</m:t>
                    </m:r>
                    <m:r>
                      <m:rPr>
                        <m:nor/>
                      </m:rPr>
                      <a:rPr lang="es-ES" sz="1200">
                        <a:latin typeface="Arial" panose="020B0604020202020204" pitchFamily="34" charset="0"/>
                        <a:cs typeface="Arial" panose="020B0604020202020204" pitchFamily="34" charset="0"/>
                      </a:rPr>
                      <m:t> </m:t>
                    </m:r>
                    <m:r>
                      <m:rPr>
                        <m:sty m:val="p"/>
                      </m:rPr>
                      <a:rPr lang="es-ES" sz="1200" b="0" i="0"/>
                      <m:t>dB</m:t>
                    </m:r>
                    <m:r>
                      <a:rPr lang="es-ES" sz="1200" b="0" i="0"/>
                      <m:t>/</m:t>
                    </m:r>
                    <m:r>
                      <m:rPr>
                        <m:sty m:val="p"/>
                      </m:rPr>
                      <a:rPr lang="es-ES" sz="1200" b="0" i="0"/>
                      <m:t>cm</m:t>
                    </m:r>
                  </m:oMath>
                </a14:m>
                <a:r>
                  <a:rPr lang="es-ES" sz="1200" dirty="0">
                    <a:latin typeface="Arial" panose="020B0604020202020204" pitchFamily="34" charset="0"/>
                    <a:cs typeface="Arial" panose="020B0604020202020204" pitchFamily="34" charset="0"/>
                  </a:rPr>
                  <a:t>, ya que es donde se obtiene el mínimo de transmisión más bajo. En ese punto, el acoplo y las pérdidas internas están más compensados, por eso la resonancia tiene mayor contraste.</a:t>
                </a:r>
              </a:p>
              <a:p>
                <a:pPr algn="just"/>
                <a:endParaRPr lang="en-US" sz="1200" dirty="0">
                  <a:latin typeface="Arial" panose="020B0604020202020204" pitchFamily="34" charset="0"/>
                  <a:cs typeface="Arial" panose="020B0604020202020204" pitchFamily="34" charset="0"/>
                </a:endParaRPr>
              </a:p>
            </p:txBody>
          </p:sp>
        </mc:Choice>
        <mc:Fallback>
          <p:sp>
            <p:nvSpPr>
              <p:cNvPr id="8" name="CuadroTexto 7">
                <a:extLst>
                  <a:ext uri="{FF2B5EF4-FFF2-40B4-BE49-F238E27FC236}">
                    <a16:creationId xmlns:a16="http://schemas.microsoft.com/office/drawing/2014/main" id="{D9601617-351E-AE1A-1F4D-693F2EA59361}"/>
                  </a:ext>
                </a:extLst>
              </p:cNvPr>
              <p:cNvSpPr txBox="1">
                <a:spLocks noRot="1" noChangeAspect="1" noMove="1" noResize="1" noEditPoints="1" noAdjustHandles="1" noChangeArrowheads="1" noChangeShapeType="1" noTextEdit="1"/>
              </p:cNvSpPr>
              <p:nvPr/>
            </p:nvSpPr>
            <p:spPr>
              <a:xfrm>
                <a:off x="7391400" y="1421483"/>
                <a:ext cx="4063181" cy="4154984"/>
              </a:xfrm>
              <a:prstGeom prst="rect">
                <a:avLst/>
              </a:prstGeom>
              <a:blipFill>
                <a:blip r:embed="rId2"/>
                <a:stretch>
                  <a:fillRect/>
                </a:stretch>
              </a:blipFill>
              <a:ln w="28575">
                <a:solidFill>
                  <a:srgbClr val="E0700D"/>
                </a:solidFill>
              </a:ln>
            </p:spPr>
            <p:txBody>
              <a:bodyPr/>
              <a:lstStyle/>
              <a:p>
                <a:r>
                  <a:rPr lang="es-ES">
                    <a:noFill/>
                  </a:rPr>
                  <a:t> </a:t>
                </a:r>
              </a:p>
            </p:txBody>
          </p:sp>
        </mc:Fallback>
      </mc:AlternateContent>
      <p:sp>
        <p:nvSpPr>
          <p:cNvPr id="9" name="Rectángulo 8">
            <a:extLst>
              <a:ext uri="{FF2B5EF4-FFF2-40B4-BE49-F238E27FC236}">
                <a16:creationId xmlns:a16="http://schemas.microsoft.com/office/drawing/2014/main" id="{11F0F5FC-B571-59FC-7890-3105A6A843BB}"/>
              </a:ext>
            </a:extLst>
          </p:cNvPr>
          <p:cNvSpPr/>
          <p:nvPr/>
        </p:nvSpPr>
        <p:spPr>
          <a:xfrm>
            <a:off x="609600" y="1418372"/>
            <a:ext cx="6324600" cy="4220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uadroTexto 12">
            <a:extLst>
              <a:ext uri="{FF2B5EF4-FFF2-40B4-BE49-F238E27FC236}">
                <a16:creationId xmlns:a16="http://schemas.microsoft.com/office/drawing/2014/main" id="{057C499E-829F-FB11-9128-843C937CB822}"/>
              </a:ext>
            </a:extLst>
          </p:cNvPr>
          <p:cNvSpPr txBox="1"/>
          <p:nvPr/>
        </p:nvSpPr>
        <p:spPr>
          <a:xfrm>
            <a:off x="2133600" y="1908762"/>
            <a:ext cx="2033313" cy="1938992"/>
          </a:xfrm>
          <a:prstGeom prst="rect">
            <a:avLst/>
          </a:prstGeom>
          <a:noFill/>
        </p:spPr>
        <p:txBody>
          <a:bodyPr wrap="none" rtlCol="0">
            <a:spAutoFit/>
          </a:bodyPr>
          <a:lstStyle/>
          <a:p>
            <a:pPr algn="ctr"/>
            <a:r>
              <a:rPr lang="es-ES" sz="2000" dirty="0"/>
              <a:t>Single ring</a:t>
            </a:r>
          </a:p>
          <a:p>
            <a:pPr algn="ctr"/>
            <a:r>
              <a:rPr lang="es-ES" sz="2000" dirty="0"/>
              <a:t>transfer </a:t>
            </a:r>
            <a:r>
              <a:rPr lang="es-ES" sz="2000" dirty="0" err="1"/>
              <a:t>functions</a:t>
            </a:r>
            <a:endParaRPr lang="es-ES" sz="2000" dirty="0"/>
          </a:p>
          <a:p>
            <a:pPr algn="ctr"/>
            <a:endParaRPr lang="es-ES" sz="2000" dirty="0"/>
          </a:p>
          <a:p>
            <a:pPr algn="ctr"/>
            <a:r>
              <a:rPr lang="es-ES" sz="2000" dirty="0"/>
              <a:t>Linear </a:t>
            </a:r>
            <a:r>
              <a:rPr lang="es-ES" sz="2000" dirty="0" err="1"/>
              <a:t>units</a:t>
            </a:r>
            <a:endParaRPr lang="es-ES" sz="2000" dirty="0"/>
          </a:p>
          <a:p>
            <a:pPr algn="ctr"/>
            <a:endParaRPr lang="es-ES" sz="2000" dirty="0"/>
          </a:p>
          <a:p>
            <a:pPr algn="ctr"/>
            <a:r>
              <a:rPr lang="es-ES" sz="2000" dirty="0" err="1"/>
              <a:t>alpha</a:t>
            </a:r>
            <a:r>
              <a:rPr lang="es-ES" sz="2000" dirty="0"/>
              <a:t>=2 dB/cm</a:t>
            </a:r>
            <a:endParaRPr lang="en-US" sz="2000" dirty="0"/>
          </a:p>
        </p:txBody>
      </p:sp>
      <p:pic>
        <p:nvPicPr>
          <p:cNvPr id="17" name="Gráfico 16">
            <a:extLst>
              <a:ext uri="{FF2B5EF4-FFF2-40B4-BE49-F238E27FC236}">
                <a16:creationId xmlns:a16="http://schemas.microsoft.com/office/drawing/2014/main" id="{16D15CB1-2EB9-A3F2-8611-C524CCD1CAE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18" name="object 16">
            <a:extLst>
              <a:ext uri="{FF2B5EF4-FFF2-40B4-BE49-F238E27FC236}">
                <a16:creationId xmlns:a16="http://schemas.microsoft.com/office/drawing/2014/main" id="{989133D6-A9B3-EFEA-2703-51A6BDA0A885}"/>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#6b – E</a:t>
            </a:r>
            <a:r>
              <a:rPr lang="en-US" sz="2500" dirty="0"/>
              <a:t>ffect of loss</a:t>
            </a:r>
            <a:endParaRPr lang="en-US" sz="2500" kern="0" dirty="0"/>
          </a:p>
          <a:p>
            <a:pPr marL="12700">
              <a:spcBef>
                <a:spcPts val="100"/>
              </a:spcBef>
            </a:pPr>
            <a:r>
              <a:rPr lang="en-US" b="0" kern="0" spc="-5" dirty="0">
                <a:latin typeface="+mj-lt"/>
                <a:cs typeface="Lucida Sans"/>
              </a:rPr>
              <a:t>Change losses value between 0 and 8 </a:t>
            </a:r>
            <a:r>
              <a:rPr lang="en-US" b="0" kern="0" spc="-5" dirty="0">
                <a:solidFill>
                  <a:srgbClr val="FF0000"/>
                </a:solidFill>
                <a:latin typeface="+mj-lt"/>
                <a:cs typeface="Lucida Sans"/>
              </a:rPr>
              <a:t>dB/cm </a:t>
            </a:r>
            <a:r>
              <a:rPr lang="en-US" b="0" kern="0" spc="-5" dirty="0">
                <a:latin typeface="+mj-lt"/>
                <a:cs typeface="Lucida Sans"/>
              </a:rPr>
              <a:t>in steps of 1</a:t>
            </a:r>
          </a:p>
        </p:txBody>
      </p:sp>
      <p:pic>
        <p:nvPicPr>
          <p:cNvPr id="3" name="Imagen 2">
            <a:extLst>
              <a:ext uri="{FF2B5EF4-FFF2-40B4-BE49-F238E27FC236}">
                <a16:creationId xmlns:a16="http://schemas.microsoft.com/office/drawing/2014/main" id="{36F556D2-C386-3CC4-590A-7B6584497FCA}"/>
              </a:ext>
            </a:extLst>
          </p:cNvPr>
          <p:cNvPicPr>
            <a:picLocks noChangeAspect="1"/>
          </p:cNvPicPr>
          <p:nvPr/>
        </p:nvPicPr>
        <p:blipFill>
          <a:blip r:embed="rId4"/>
          <a:stretch>
            <a:fillRect/>
          </a:stretch>
        </p:blipFill>
        <p:spPr>
          <a:xfrm>
            <a:off x="696686" y="1801377"/>
            <a:ext cx="6156649" cy="3454415"/>
          </a:xfrm>
          <a:prstGeom prst="rect">
            <a:avLst/>
          </a:prstGeom>
        </p:spPr>
      </p:pic>
    </p:spTree>
    <p:extLst>
      <p:ext uri="{BB962C8B-B14F-4D97-AF65-F5344CB8AC3E}">
        <p14:creationId xmlns:p14="http://schemas.microsoft.com/office/powerpoint/2010/main" val="14611966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1555</TotalTime>
  <Words>2553</Words>
  <Application>Microsoft Office PowerPoint</Application>
  <PresentationFormat>Panorámica</PresentationFormat>
  <Paragraphs>249</Paragraphs>
  <Slides>17</Slides>
  <Notes>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17</vt:i4>
      </vt:variant>
    </vt:vector>
  </HeadingPairs>
  <TitlesOfParts>
    <vt:vector size="24" baseType="lpstr">
      <vt:lpstr>Aptos</vt:lpstr>
      <vt:lpstr>Arial</vt:lpstr>
      <vt:lpstr>Calibri</vt:lpstr>
      <vt:lpstr>Cambria Math</vt:lpstr>
      <vt:lpstr>Lucida Sans</vt:lpstr>
      <vt:lpstr>Wingdings</vt:lpstr>
      <vt:lpstr>Office Theme</vt:lpstr>
      <vt:lpstr>Presentación de PowerPoint</vt:lpstr>
      <vt:lpstr>Instructions General</vt:lpstr>
      <vt:lpstr>Learning outcome #1a – Perfectly balanced MZI </vt:lpstr>
      <vt:lpstr>Learning outcome #1a – Perfectly balanced MZI </vt:lpstr>
      <vt:lpstr>Learning outcome #1b – Unbalanced MZI </vt:lpstr>
      <vt:lpstr>Learning outcome #1b – Unbalanced MZI </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Lidia Tortola Juan</cp:lastModifiedBy>
  <cp:revision>46</cp:revision>
  <dcterms:created xsi:type="dcterms:W3CDTF">2025-01-27T02:46:57Z</dcterms:created>
  <dcterms:modified xsi:type="dcterms:W3CDTF">2026-05-25T07:06:00Z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